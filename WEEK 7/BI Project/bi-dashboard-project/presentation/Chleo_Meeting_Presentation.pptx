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34155"/>
                </a:solidFill>
                <a:latin typeface="Arial"/>
              </a:defRPr>
            </a:pPr>
            <a:r>
              <a:rPr sz="1000" b="0" i="0" u="none" strike="noStrike">
                <a:solidFill>
                  <a:srgbClr val="334155"/>
                </a:solidFill>
                <a:latin typeface="Arial"/>
              </a:rPr>
              <a:t>No-Show Rate by Day of Week (%)</a:t>
            </a:r>
          </a:p>
        </c:rich>
      </c:tx>
      <c:layout/>
      <c:overlay val="0"/>
    </c:title>
    <c:autoTitleDeleted val="0"/>
    <c:plotArea>
      <c:layout/>
      <c:barChart>
        <c:barDir val="col"/>
        <c:grouping val="clustered"/>
        <c:varyColors val="0"/>
        <c:ser>
          <c:idx val="0"/>
          <c:order val="0"/>
          <c:tx>
            <c:strRef>
              <c:f>Sheet1!$B$1</c:f>
              <c:strCache>
                <c:ptCount val="1"/>
                <c:pt idx="0">
                  <c:v>No-Show Rate (%)</c:v>
                </c:pt>
              </c:strCache>
            </c:strRef>
          </c:tx>
          <c:spPr>
            <a:solidFill>
              <a:srgbClr val="0D6B8A"/>
            </a:solidFill>
            <a:effectLst/>
          </c:spPr>
          <c:invertIfNegative val="0"/>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0D6B8A"/>
              </a:solidFill>
              <a:effectLst/>
            </c:spPr>
          </c:dPt>
          <c:dPt>
            <c:idx val="1"/>
            <c:invertIfNegative val="0"/>
            <c:bubble3D val="0"/>
            <c:spPr>
              <a:solidFill>
                <a:srgbClr val="0D6B8A"/>
              </a:solidFill>
              <a:effectLst/>
            </c:spPr>
          </c:dPt>
          <c:dPt>
            <c:idx val="2"/>
            <c:invertIfNegative val="0"/>
            <c:bubble3D val="0"/>
            <c:spPr>
              <a:solidFill>
                <a:srgbClr val="0D6B8A"/>
              </a:solidFill>
              <a:effectLst/>
            </c:spPr>
          </c:dPt>
          <c:dPt>
            <c:idx val="3"/>
            <c:invertIfNegative val="0"/>
            <c:bubble3D val="0"/>
            <c:spPr>
              <a:solidFill>
                <a:srgbClr val="0D6B8A"/>
              </a:solidFill>
              <a:effectLst/>
            </c:spPr>
          </c:dPt>
          <c:dPt>
            <c:idx val="4"/>
            <c:invertIfNegative val="0"/>
            <c:bubble3D val="0"/>
            <c:spPr>
              <a:solidFill>
                <a:srgbClr val="0D6B8A"/>
              </a:solidFill>
              <a:effectLst/>
            </c:spPr>
          </c:dPt>
          <c:dPt>
            <c:idx val="5"/>
            <c:invertIfNegative val="0"/>
            <c:bubble3D val="0"/>
            <c:spPr>
              <a:solidFill>
                <a:srgbClr val="0D6B8A"/>
              </a:solidFill>
              <a:effectLst/>
            </c:spPr>
          </c:dPt>
          <c:cat>
            <c:multiLvlStrRef>
              <c:f>Sheet1!$A$2:$A$7</c:f>
              <c:multiLvlStrCache>
                <c:ptCount val="6"/>
                <c:lvl>
                  <c:pt idx="0">
                    <c:v>Mon</c:v>
                  </c:pt>
                  <c:pt idx="1">
                    <c:v>Tue</c:v>
                  </c:pt>
                  <c:pt idx="2">
                    <c:v>Wed</c:v>
                  </c:pt>
                  <c:pt idx="3">
                    <c:v>Thu</c:v>
                  </c:pt>
                  <c:pt idx="4">
                    <c:v>Fri</c:v>
                  </c:pt>
                  <c:pt idx="5">
                    <c:v>Sat</c:v>
                  </c:pt>
                </c:lvl>
              </c:multiLvlStrCache>
            </c:multiLvlStrRef>
          </c:cat>
          <c:val>
            <c:numRef>
              <c:f>Sheet1!$B$2:$B$7</c:f>
              <c:numCache>
                <c:formatCode>General</c:formatCode>
                <c:ptCount val="6"/>
                <c:pt idx="0">
                  <c:v>29.4</c:v>
                </c:pt>
                <c:pt idx="1">
                  <c:v>26.1</c:v>
                </c:pt>
                <c:pt idx="2">
                  <c:v>25.8</c:v>
                </c:pt>
                <c:pt idx="3">
                  <c:v>26.7</c:v>
                </c:pt>
                <c:pt idx="4">
                  <c:v>25.2</c:v>
                </c:pt>
                <c:pt idx="5">
                  <c:v>24.1</c:v>
                </c:pt>
              </c:numCache>
            </c:numRef>
          </c:val>
        </c:ser>
        <c:dLbls>
          <c:numFmt formatCode="#,##0" sourceLinked="0"/>
          <c:txPr>
            <a:bodyPr/>
            <a:lstStyle/>
            <a:p>
              <a:pPr>
                <a:defRPr b="0" i="0" strike="noStrike" sz="9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AF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34155"/>
                </a:solidFill>
                <a:latin typeface="Arial"/>
              </a:defRPr>
            </a:pPr>
            <a:r>
              <a:rPr sz="1000" b="0" i="0" u="none" strike="noStrike">
                <a:solidFill>
                  <a:srgbClr val="334155"/>
                </a:solidFill>
                <a:latin typeface="Arial"/>
              </a:rPr>
              <a:t>No-Show Rate Over Time (%)</a:t>
            </a:r>
          </a:p>
        </c:rich>
      </c:tx>
      <c:layout/>
      <c:overlay val="0"/>
    </c:title>
    <c:autoTitleDeleted val="0"/>
    <c:plotArea>
      <c:layout/>
      <c:lineChart>
        <c:varyColors val="0"/>
        <c:ser>
          <c:idx val="0"/>
          <c:order val="0"/>
          <c:tx>
            <c:strRef>
              <c:f>Sheet1!$B$1</c:f>
              <c:strCache>
                <c:ptCount val="1"/>
                <c:pt idx="0">
                  <c:v>No-Show Rate (%)</c:v>
                </c:pt>
              </c:strCache>
            </c:strRef>
          </c:tx>
          <c:spPr>
            <a:solidFill>
              <a:srgbClr val="0D6B8A"/>
            </a:solidFill>
            <a:ln w="31750" cap="flat">
              <a:solidFill>
                <a:srgbClr val="0D6B8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D6B8A"/>
              </a:solidFill>
              <a:ln w="9525" cap="flat">
                <a:solidFill>
                  <a:srgbClr val="0D6B8A"/>
                </a:solidFill>
                <a:prstDash val="solid"/>
                <a:round/>
              </a:ln>
              <a:effectLst/>
            </c:spPr>
          </c:marker>
          <c:cat>
            <c:multiLvlStrRef>
              <c:f>Sheet1!$A$2:$A$9</c:f>
              <c:multiLvlStrCache>
                <c:ptCount val="8"/>
                <c:lvl>
                  <c:pt idx="0">
                    <c:v>Jan</c:v>
                  </c:pt>
                  <c:pt idx="1">
                    <c:v>Feb</c:v>
                  </c:pt>
                  <c:pt idx="2">
                    <c:v>Mar</c:v>
                  </c:pt>
                  <c:pt idx="3">
                    <c:v>Apr</c:v>
                  </c:pt>
                  <c:pt idx="4">
                    <c:v>May</c:v>
                  </c:pt>
                  <c:pt idx="5">
                    <c:v>Jun</c:v>
                  </c:pt>
                  <c:pt idx="6">
                    <c:v>Jul</c:v>
                  </c:pt>
                  <c:pt idx="7">
                    <c:v>Aug</c:v>
                  </c:pt>
                </c:lvl>
              </c:multiLvlStrCache>
            </c:multiLvlStrRef>
          </c:cat>
          <c:val>
            <c:numRef>
              <c:f>Sheet1!$B$2:$B$9</c:f>
              <c:numCache>
                <c:formatCode>General</c:formatCode>
                <c:ptCount val="8"/>
                <c:pt idx="0">
                  <c:v>27.8</c:v>
                </c:pt>
                <c:pt idx="1">
                  <c:v>28.2</c:v>
                </c:pt>
                <c:pt idx="2">
                  <c:v>27.5</c:v>
                </c:pt>
                <c:pt idx="3">
                  <c:v>26.8</c:v>
                </c:pt>
                <c:pt idx="4">
                  <c:v>26.3</c:v>
                </c:pt>
                <c:pt idx="5">
                  <c:v>25.9</c:v>
                </c:pt>
                <c:pt idx="6">
                  <c:v>26.7</c:v>
                </c:pt>
                <c:pt idx="7">
                  <c:v>27.1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334155"/>
                </a:solidFill>
                <a:latin typeface="Arial"/>
              </a:defRPr>
            </a:pPr>
            <a:r>
              <a:rPr sz="1000" b="0" i="0" u="none" strike="noStrike">
                <a:solidFill>
                  <a:srgbClr val="334155"/>
                </a:solidFill>
                <a:latin typeface="Arial"/>
              </a:rPr>
              <a:t>Provider Utilisation (%) — Red = Overloaded</a:t>
            </a:r>
          </a:p>
        </c:rich>
      </c:tx>
      <c:layout/>
      <c:overlay val="0"/>
    </c:title>
    <c:autoTitleDeleted val="0"/>
    <c:plotArea>
      <c:layout/>
      <c:barChart>
        <c:barDir val="bar"/>
        <c:grouping val="clustered"/>
        <c:varyColors val="0"/>
        <c:ser>
          <c:idx val="0"/>
          <c:order val="0"/>
          <c:tx>
            <c:strRef>
              <c:f>Sheet1!$B$1</c:f>
              <c:strCache>
                <c:ptCount val="1"/>
                <c:pt idx="0">
                  <c:v>Utilisation (%)</c:v>
                </c:pt>
              </c:strCache>
            </c:strRef>
          </c:tx>
          <c:spPr>
            <a:solidFill>
              <a:srgbClr val="DC2626"/>
            </a:solidFill>
            <a:effectLst/>
          </c:spPr>
          <c:invertIfNegative val="0"/>
          <c:dLbls>
            <c:numFmt formatCode="#,##0" sourceLinked="0"/>
            <c:txPr>
              <a:bodyPr/>
              <a:lstStyle/>
              <a:p>
                <a:pPr>
                  <a:defRPr b="0" i="0" strike="noStrike" sz="800" u="none">
                    <a:solidFill>
                      <a:srgbClr val="334155"/>
                    </a:solidFill>
                    <a:latin typeface="Arial"/>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DC2626"/>
              </a:solidFill>
              <a:effectLst/>
            </c:spPr>
          </c:dPt>
          <c:dPt>
            <c:idx val="2"/>
            <c:invertIfNegative val="0"/>
            <c:bubble3D val="0"/>
            <c:spPr>
              <a:solidFill>
                <a:srgbClr val="E8762B"/>
              </a:solidFill>
              <a:effectLst/>
            </c:spPr>
          </c:dPt>
          <c:dPt>
            <c:idx val="3"/>
            <c:invertIfNegative val="0"/>
            <c:bubble3D val="0"/>
            <c:spPr>
              <a:solidFill>
                <a:srgbClr val="16A34A"/>
              </a:solidFill>
              <a:effectLst/>
            </c:spPr>
          </c:dPt>
          <c:dPt>
            <c:idx val="4"/>
            <c:invertIfNegative val="0"/>
            <c:bubble3D val="0"/>
            <c:spPr>
              <a:solidFill>
                <a:srgbClr val="16A34A"/>
              </a:solidFill>
              <a:effectLst/>
            </c:spPr>
          </c:dPt>
          <c:dPt>
            <c:idx val="5"/>
            <c:invertIfNegative val="0"/>
            <c:bubble3D val="0"/>
            <c:spPr>
              <a:solidFill>
                <a:srgbClr val="64748B"/>
              </a:solidFill>
              <a:effectLst/>
            </c:spPr>
          </c:dPt>
          <c:cat>
            <c:multiLvlStrRef>
              <c:f>Sheet1!$A$2:$A$7</c:f>
              <c:multiLvlStrCache>
                <c:ptCount val="6"/>
                <c:lvl>
                  <c:pt idx="0">
                    <c:v>PED-01</c:v>
                  </c:pt>
                  <c:pt idx="1">
                    <c:v>GER-02</c:v>
                  </c:pt>
                  <c:pt idx="2">
                    <c:v>BH-03</c:v>
                  </c:pt>
                  <c:pt idx="3">
                    <c:v>FAM-04</c:v>
                  </c:pt>
                  <c:pt idx="4">
                    <c:v>WH-05</c:v>
                  </c:pt>
                  <c:pt idx="5">
                    <c:v>CC-06</c:v>
                  </c:pt>
                </c:lvl>
              </c:multiLvlStrCache>
            </c:multiLvlStrRef>
          </c:cat>
          <c:val>
            <c:numRef>
              <c:f>Sheet1!$B$2:$B$7</c:f>
              <c:numCache>
                <c:formatCode>General</c:formatCode>
                <c:ptCount val="6"/>
                <c:pt idx="0">
                  <c:v>118</c:v>
                </c:pt>
                <c:pt idx="1">
                  <c:v>112</c:v>
                </c:pt>
                <c:pt idx="2">
                  <c:v>105</c:v>
                </c:pt>
                <c:pt idx="3">
                  <c:v>78</c:v>
                </c:pt>
                <c:pt idx="4">
                  <c:v>65</c:v>
                </c:pt>
                <c:pt idx="5">
                  <c:v>52</c:v>
                </c:pt>
              </c:numCache>
            </c:numRef>
          </c:val>
        </c:ser>
        <c:dLbls>
          <c:numFmt formatCode="#,##0" sourceLinked="0"/>
          <c:txPr>
            <a:bodyPr/>
            <a:lstStyle/>
            <a:p>
              <a:pPr>
                <a:defRPr b="0" i="0" strike="noStrike" sz="800" u="none">
                  <a:solidFill>
                    <a:srgbClr val="334155"/>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show you any technology, let me show you a number. In a real dataset of 110,000 clinic appointments, 27% were no-shows. For a medium-sized clinic running 100 appointments a day, that's roughly 27 missed slots — at $200 per slot, that's $5,400 in potential revenue lost every single day. You already feel this pain. I'm here to show you how data and AI can fix it — transparently, with nothing hidden.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analysed 110,527 appointments and three patterns jumped out immediately. No-shows cluster on specific days — Mondays are consistently worst. They cluster in specific specialties — Behavioral Health has nearly double the no-show rate of Family Medicine. And reminders work: patients who received an SMS were 8 percentage points more likely to show up. The data is already telling you where to act. You just need the right tools to hear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Chleo, you said something important: you're scared AI isn't transparent. That's exactly the right instinct to have. Most AI vendors give you a number and say 'trust us.' We do the opposite. We built a system where every output tells you exactly where it came from.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we built. Layer one is pure observed fact from your appointment records — attendance counts, wait times, reminder flags. Layer two is where AI adds value: it spots that Mondays after long weekends have 40% higher no-show risk and explains exactly why, showing the evidence. Layer three is projection — scenarios like 'what happens to revenue if we improve reminder coverage by 20%.' You always know which layer you're looking at. We colour-code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executive dashboard — four numbers that matter most to operations leadership. The trend line shows no-show rate over time so you can immediately see whether any intervention is actually working. The provider chart shows you who is overwhelmed and who has spare capacity. That insight normally requires a full day in spreadsheets. Here it updates automatically every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an AI insight looks like in our system. Not a vague suggestion like 'reduce no-shows' — a specific, evidenced, actionable card. It tells you what the finding is, what data supports it, what probably caused it, and what to do about it. The confidence level tells you whether this is a hard calculation or a probabilistic estimate. Your staff can open the underlying data and verify every single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n8n automation workflow handles the repetitive communication work. Every night, it pulls tomorrow's high-risk appointments, sends targeted reminders at the right time. After each visit it sends a short follow-up. For no-shows, it triggers a gentle rebook prompt. Your team sets the rules — the system executes them at scale. Nothing sends without your rules authorising it. And every action is logged back to your Airtable.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transparency proof. LangSmith captures every single AI call — what went in, what came out, and how it scored against our quality benchmarks. If an insight is ever wrong, you can trace exactly why. This is the audit trail that separates accountable AI from a black box. Regulators, auditors, your own team — anyone can review the log. This is how you hold AI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costs between six and eight and a half thousand dollars — one time. Monthly running costs are under three hundred and fifty dollars for all the tooling and APIs. If we move the no-show rate by just five percentage points — that's conservative given what reminders alone achieve in the data — the extra revenue recovered pays back the entire pilot in under a week. This isn't a cost centre. It's one of the fastest-returning investments an operations team can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weeks, start to finish. We start by reviewing your real data and agreeing on which metrics matter most to your operations team. By end of week two, you have a working dashboard your team can use. Weeks three and four add the AI layer and automation. Week five is yours — we train your team and hand over full ownership. You see progress every week. Nothing is built behind closed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one ask. Give me one month of appointment data — anonymised, no patient names needed, just the operational fields. I'll come back in 48 hours with a proposal scoped specifically to your clinic: your data, your team size, your budget. Everything I showed you today was built in two days on publicly available data. With your real data, we can go much further, much faster. Chleo — shall we set up that data call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547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762B"/>
          </a:solidFill>
          <a:ln w="12700">
            <a:solidFill>
              <a:srgbClr val="E8762B"/>
            </a:solidFill>
            <a:prstDash val="solid"/>
          </a:ln>
        </p:spPr>
      </p:sp>
      <p:sp>
        <p:nvSpPr>
          <p:cNvPr id="3" name="Text 1"/>
          <p:cNvSpPr/>
          <p:nvPr/>
        </p:nvSpPr>
        <p:spPr>
          <a:xfrm>
            <a:off x="548640" y="320040"/>
            <a:ext cx="804672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Light" pitchFamily="34" charset="0"/>
                <a:ea typeface="Calibri Light" pitchFamily="34" charset="-122"/>
                <a:cs typeface="Calibri Light" pitchFamily="34" charset="-120"/>
              </a:rPr>
              <a:t>Every No-Show Costs Your Clinic ~$200</a:t>
            </a:r>
            <a:endParaRPr lang="en-US" sz="3000" dirty="0"/>
          </a:p>
        </p:txBody>
      </p:sp>
      <p:sp>
        <p:nvSpPr>
          <p:cNvPr id="4" name="Text 2"/>
          <p:cNvSpPr/>
          <p:nvPr/>
        </p:nvSpPr>
        <p:spPr>
          <a:xfrm>
            <a:off x="2286000" y="1005840"/>
            <a:ext cx="4572000" cy="2011680"/>
          </a:xfrm>
          <a:prstGeom prst="rect">
            <a:avLst/>
          </a:prstGeom>
          <a:noFill/>
          <a:ln/>
        </p:spPr>
        <p:txBody>
          <a:bodyPr wrap="square" lIns="0" tIns="0" rIns="0" bIns="0" rtlCol="0" anchor="ctr"/>
          <a:lstStyle/>
          <a:p>
            <a:pPr algn="ctr" indent="0" marL="0">
              <a:buNone/>
            </a:pPr>
            <a:r>
              <a:rPr lang="en-US" sz="12000" b="1" dirty="0">
                <a:solidFill>
                  <a:srgbClr val="E8762B"/>
                </a:solidFill>
                <a:latin typeface="Calibri" pitchFamily="34" charset="0"/>
                <a:ea typeface="Calibri" pitchFamily="34" charset="-122"/>
                <a:cs typeface="Calibri" pitchFamily="34" charset="-120"/>
              </a:rPr>
              <a:t>27%</a:t>
            </a:r>
            <a:endParaRPr lang="en-US" sz="12000" dirty="0"/>
          </a:p>
        </p:txBody>
      </p:sp>
      <p:sp>
        <p:nvSpPr>
          <p:cNvPr id="5" name="Text 3"/>
          <p:cNvSpPr/>
          <p:nvPr/>
        </p:nvSpPr>
        <p:spPr>
          <a:xfrm>
            <a:off x="914400" y="3017520"/>
            <a:ext cx="7315200" cy="502920"/>
          </a:xfrm>
          <a:prstGeom prst="rect">
            <a:avLst/>
          </a:prstGeom>
          <a:noFill/>
          <a:ln/>
        </p:spPr>
        <p:txBody>
          <a:bodyPr wrap="square" lIns="0" tIns="0" rIns="0" bIns="0" rtlCol="0" anchor="ctr"/>
          <a:lstStyle/>
          <a:p>
            <a:pPr algn="ctr" indent="0" marL="0">
              <a:buNone/>
            </a:pPr>
            <a:r>
              <a:rPr lang="en-US" sz="1800" dirty="0">
                <a:solidFill>
                  <a:srgbClr val="CADCEB"/>
                </a:solidFill>
                <a:latin typeface="Calibri Light" pitchFamily="34" charset="0"/>
                <a:ea typeface="Calibri Light" pitchFamily="34" charset="-122"/>
                <a:cs typeface="Calibri Light" pitchFamily="34" charset="-120"/>
              </a:rPr>
              <a:t>of appointments never happen — that's 1 in 4 chairs, sitting empty</a:t>
            </a:r>
            <a:endParaRPr lang="en-US" sz="1800" dirty="0"/>
          </a:p>
        </p:txBody>
      </p:sp>
      <p:sp>
        <p:nvSpPr>
          <p:cNvPr id="6" name="Shape 4"/>
          <p:cNvSpPr/>
          <p:nvPr/>
        </p:nvSpPr>
        <p:spPr>
          <a:xfrm>
            <a:off x="1371600" y="3703320"/>
            <a:ext cx="6400800" cy="320040"/>
          </a:xfrm>
          <a:prstGeom prst="rect">
            <a:avLst/>
          </a:prstGeom>
          <a:solidFill>
            <a:srgbClr val="0A5470"/>
          </a:solidFill>
          <a:ln w="12700">
            <a:solidFill>
              <a:srgbClr val="0A5470"/>
            </a:solidFill>
            <a:prstDash val="solid"/>
          </a:ln>
        </p:spPr>
      </p:sp>
      <p:sp>
        <p:nvSpPr>
          <p:cNvPr id="7" name="Text 5"/>
          <p:cNvSpPr/>
          <p:nvPr/>
        </p:nvSpPr>
        <p:spPr>
          <a:xfrm>
            <a:off x="1371600" y="3703320"/>
            <a:ext cx="6400800" cy="320040"/>
          </a:xfrm>
          <a:prstGeom prst="rect">
            <a:avLst/>
          </a:prstGeom>
          <a:noFill/>
          <a:ln/>
        </p:spPr>
        <p:txBody>
          <a:bodyPr wrap="square" lIns="0" tIns="0" rIns="0" bIns="0" rtlCol="0" anchor="ctr"/>
          <a:lstStyle/>
          <a:p>
            <a:pPr algn="ctr" indent="0" marL="0">
              <a:buNone/>
            </a:pPr>
            <a:r>
              <a:rPr lang="en-US" sz="1000" dirty="0">
                <a:solidFill>
                  <a:srgbClr val="9EC9DC"/>
                </a:solidFill>
              </a:rPr>
              <a:t>110,527 real appointments analysed  •  Source: Kaggle Medical Appointment No-Shows Dataset</a:t>
            </a:r>
            <a:endParaRPr lang="en-US" sz="1000" dirty="0"/>
          </a:p>
        </p:txBody>
      </p:sp>
      <p:sp>
        <p:nvSpPr>
          <p:cNvPr id="8" name="Shape 6"/>
          <p:cNvSpPr/>
          <p:nvPr/>
        </p:nvSpPr>
        <p:spPr>
          <a:xfrm>
            <a:off x="0" y="4937760"/>
            <a:ext cx="9144000" cy="205740"/>
          </a:xfrm>
          <a:prstGeom prst="rect">
            <a:avLst/>
          </a:prstGeom>
          <a:solidFill>
            <a:srgbClr val="073B52"/>
          </a:solidFill>
          <a:ln w="12700">
            <a:solidFill>
              <a:srgbClr val="073B52"/>
            </a:solidFill>
            <a:prstDash val="solid"/>
          </a:ln>
        </p:spPr>
      </p:sp>
      <p:sp>
        <p:nvSpPr>
          <p:cNvPr id="9" name="Text 7"/>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4A90A4"/>
                </a:solidFill>
              </a:rPr>
              <a:t>1 / 11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indent="0" marL="0">
              <a:buNone/>
            </a:pPr>
            <a:r>
              <a:rPr lang="en-US" sz="2600" b="1" dirty="0">
                <a:solidFill>
                  <a:srgbClr val="0A5470"/>
                </a:solidFill>
                <a:latin typeface="Calibri Light" pitchFamily="34" charset="0"/>
                <a:ea typeface="Calibri Light" pitchFamily="34" charset="-122"/>
                <a:cs typeface="Calibri Light" pitchFamily="34" charset="-120"/>
              </a:rPr>
              <a:t>What Your Appointment Data Already Tells You</a:t>
            </a:r>
            <a:endParaRPr lang="en-US" sz="2600" dirty="0"/>
          </a:p>
        </p:txBody>
      </p:sp>
      <p:sp>
        <p:nvSpPr>
          <p:cNvPr id="4" name="Shape 2"/>
          <p:cNvSpPr/>
          <p:nvPr/>
        </p:nvSpPr>
        <p:spPr>
          <a:xfrm>
            <a:off x="320040" y="868680"/>
            <a:ext cx="2788920" cy="2331720"/>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320040" y="868680"/>
            <a:ext cx="64008" cy="2331720"/>
          </a:xfrm>
          <a:prstGeom prst="rect">
            <a:avLst/>
          </a:prstGeom>
          <a:solidFill>
            <a:srgbClr val="0D6B8A"/>
          </a:solidFill>
          <a:ln w="12700">
            <a:solidFill>
              <a:srgbClr val="0D6B8A"/>
            </a:solidFill>
            <a:prstDash val="solid"/>
          </a:ln>
        </p:spPr>
      </p:sp>
      <p:pic>
        <p:nvPicPr>
          <p:cNvPr id="6" name="Image 0" descr="preencoded.png">    </p:cNvPr>
          <p:cNvPicPr>
            <a:picLocks noChangeAspect="1"/>
          </p:cNvPicPr>
          <p:nvPr/>
        </p:nvPicPr>
        <p:blipFill>
          <a:blip r:embed="rId1"/>
          <a:stretch>
            <a:fillRect/>
          </a:stretch>
        </p:blipFill>
        <p:spPr>
          <a:xfrm>
            <a:off x="548640" y="1005840"/>
            <a:ext cx="411480" cy="411480"/>
          </a:xfrm>
          <a:prstGeom prst="rect">
            <a:avLst/>
          </a:prstGeom>
        </p:spPr>
      </p:pic>
      <p:sp>
        <p:nvSpPr>
          <p:cNvPr id="7" name="Text 4"/>
          <p:cNvSpPr/>
          <p:nvPr/>
        </p:nvSpPr>
        <p:spPr>
          <a:xfrm>
            <a:off x="502920" y="1481328"/>
            <a:ext cx="2468880" cy="320040"/>
          </a:xfrm>
          <a:prstGeom prst="rect">
            <a:avLst/>
          </a:prstGeom>
          <a:noFill/>
          <a:ln/>
        </p:spPr>
        <p:txBody>
          <a:bodyPr wrap="square" lIns="0" tIns="0" rIns="0" bIns="0" rtlCol="0" anchor="ctr"/>
          <a:lstStyle/>
          <a:p>
            <a:pPr indent="0" marL="0">
              <a:buNone/>
            </a:pPr>
            <a:r>
              <a:rPr lang="en-US" sz="1400" b="1" dirty="0">
                <a:solidFill>
                  <a:srgbClr val="0F172A"/>
                </a:solidFill>
              </a:rPr>
              <a:t>Monday Mornings</a:t>
            </a:r>
            <a:endParaRPr lang="en-US" sz="1400" dirty="0"/>
          </a:p>
        </p:txBody>
      </p:sp>
      <p:sp>
        <p:nvSpPr>
          <p:cNvPr id="8" name="Text 5"/>
          <p:cNvSpPr/>
          <p:nvPr/>
        </p:nvSpPr>
        <p:spPr>
          <a:xfrm>
            <a:off x="502920" y="1801368"/>
            <a:ext cx="2468880" cy="274320"/>
          </a:xfrm>
          <a:prstGeom prst="rect">
            <a:avLst/>
          </a:prstGeom>
          <a:noFill/>
          <a:ln/>
        </p:spPr>
        <p:txBody>
          <a:bodyPr wrap="square" lIns="0" tIns="0" rIns="0" bIns="0" rtlCol="0" anchor="ctr"/>
          <a:lstStyle/>
          <a:p>
            <a:pPr indent="0" marL="0">
              <a:buNone/>
            </a:pPr>
            <a:r>
              <a:rPr lang="en-US" sz="1300" b="1" dirty="0">
                <a:solidFill>
                  <a:srgbClr val="0D6B8A"/>
                </a:solidFill>
              </a:rPr>
              <a:t>Highest no-show risk</a:t>
            </a:r>
            <a:endParaRPr lang="en-US" sz="1300" dirty="0"/>
          </a:p>
        </p:txBody>
      </p:sp>
      <p:sp>
        <p:nvSpPr>
          <p:cNvPr id="9" name="Text 6"/>
          <p:cNvSpPr/>
          <p:nvPr/>
        </p:nvSpPr>
        <p:spPr>
          <a:xfrm>
            <a:off x="502920" y="2103120"/>
            <a:ext cx="2468880" cy="594360"/>
          </a:xfrm>
          <a:prstGeom prst="rect">
            <a:avLst/>
          </a:prstGeom>
          <a:noFill/>
          <a:ln/>
        </p:spPr>
        <p:txBody>
          <a:bodyPr wrap="square" lIns="0" tIns="0" rIns="0" bIns="0" rtlCol="0" anchor="ctr"/>
          <a:lstStyle/>
          <a:p>
            <a:pPr indent="0" marL="0">
              <a:spcAft>
                <a:spcPts val="400"/>
              </a:spcAft>
              <a:buNone/>
            </a:pPr>
            <a:r>
              <a:rPr lang="en-US" sz="1100" dirty="0">
                <a:solidFill>
                  <a:srgbClr val="64748B"/>
                </a:solidFill>
              </a:rPr>
              <a:t>Consistent pattern across 52 weeks of data</a:t>
            </a:r>
            <a:endParaRPr lang="en-US" sz="1100" dirty="0"/>
          </a:p>
        </p:txBody>
      </p:sp>
      <p:sp>
        <p:nvSpPr>
          <p:cNvPr id="10" name="Shape 7"/>
          <p:cNvSpPr/>
          <p:nvPr/>
        </p:nvSpPr>
        <p:spPr>
          <a:xfrm>
            <a:off x="3291840" y="868680"/>
            <a:ext cx="2788920" cy="2331720"/>
          </a:xfrm>
          <a:prstGeom prst="rect">
            <a:avLst/>
          </a:prstGeom>
          <a:solidFill>
            <a:srgbClr val="FFF0E6"/>
          </a:solidFill>
          <a:ln w="19050">
            <a:solidFill>
              <a:srgbClr val="E8762B"/>
            </a:solidFill>
            <a:prstDash val="solid"/>
          </a:ln>
          <a:effectLst>
            <a:outerShdw sx="100000" sy="100000" kx="0" ky="0" algn="bl" rotWithShape="0" blurRad="76200" dist="25400" dir="8100000">
              <a:srgbClr val="000000">
                <a:alpha val="8000"/>
              </a:srgbClr>
            </a:outerShdw>
          </a:effectLst>
        </p:spPr>
      </p:sp>
      <p:sp>
        <p:nvSpPr>
          <p:cNvPr id="11" name="Shape 8"/>
          <p:cNvSpPr/>
          <p:nvPr/>
        </p:nvSpPr>
        <p:spPr>
          <a:xfrm>
            <a:off x="3291840" y="868680"/>
            <a:ext cx="64008" cy="2331720"/>
          </a:xfrm>
          <a:prstGeom prst="rect">
            <a:avLst/>
          </a:prstGeom>
          <a:solidFill>
            <a:srgbClr val="E8762B"/>
          </a:solidFill>
          <a:ln w="12700">
            <a:solidFill>
              <a:srgbClr val="E8762B"/>
            </a:solidFill>
            <a:prstDash val="solid"/>
          </a:ln>
        </p:spPr>
      </p:sp>
      <p:pic>
        <p:nvPicPr>
          <p:cNvPr id="12" name="Image 1" descr="preencoded.png">    </p:cNvPr>
          <p:cNvPicPr>
            <a:picLocks noChangeAspect="1"/>
          </p:cNvPicPr>
          <p:nvPr/>
        </p:nvPicPr>
        <p:blipFill>
          <a:blip r:embed="rId2"/>
          <a:stretch>
            <a:fillRect/>
          </a:stretch>
        </p:blipFill>
        <p:spPr>
          <a:xfrm>
            <a:off x="3520440" y="1005840"/>
            <a:ext cx="411480" cy="411480"/>
          </a:xfrm>
          <a:prstGeom prst="rect">
            <a:avLst/>
          </a:prstGeom>
        </p:spPr>
      </p:pic>
      <p:sp>
        <p:nvSpPr>
          <p:cNvPr id="13" name="Text 9"/>
          <p:cNvSpPr/>
          <p:nvPr/>
        </p:nvSpPr>
        <p:spPr>
          <a:xfrm>
            <a:off x="3474720" y="1481328"/>
            <a:ext cx="2468880" cy="320040"/>
          </a:xfrm>
          <a:prstGeom prst="rect">
            <a:avLst/>
          </a:prstGeom>
          <a:noFill/>
          <a:ln/>
        </p:spPr>
        <p:txBody>
          <a:bodyPr wrap="square" lIns="0" tIns="0" rIns="0" bIns="0" rtlCol="0" anchor="ctr"/>
          <a:lstStyle/>
          <a:p>
            <a:pPr indent="0" marL="0">
              <a:buNone/>
            </a:pPr>
            <a:r>
              <a:rPr lang="en-US" sz="1400" b="1" dirty="0">
                <a:solidFill>
                  <a:srgbClr val="0F172A"/>
                </a:solidFill>
              </a:rPr>
              <a:t>Behavioral Health</a:t>
            </a:r>
            <a:endParaRPr lang="en-US" sz="1400" dirty="0"/>
          </a:p>
        </p:txBody>
      </p:sp>
      <p:sp>
        <p:nvSpPr>
          <p:cNvPr id="14" name="Text 10"/>
          <p:cNvSpPr/>
          <p:nvPr/>
        </p:nvSpPr>
        <p:spPr>
          <a:xfrm>
            <a:off x="3474720" y="1801368"/>
            <a:ext cx="2468880" cy="274320"/>
          </a:xfrm>
          <a:prstGeom prst="rect">
            <a:avLst/>
          </a:prstGeom>
          <a:noFill/>
          <a:ln/>
        </p:spPr>
        <p:txBody>
          <a:bodyPr wrap="square" lIns="0" tIns="0" rIns="0" bIns="0" rtlCol="0" anchor="ctr"/>
          <a:lstStyle/>
          <a:p>
            <a:pPr indent="0" marL="0">
              <a:buNone/>
            </a:pPr>
            <a:r>
              <a:rPr lang="en-US" sz="1300" b="1" dirty="0">
                <a:solidFill>
                  <a:srgbClr val="E8762B"/>
                </a:solidFill>
              </a:rPr>
              <a:t>34% no-show rate</a:t>
            </a:r>
            <a:endParaRPr lang="en-US" sz="1300" dirty="0"/>
          </a:p>
        </p:txBody>
      </p:sp>
      <p:sp>
        <p:nvSpPr>
          <p:cNvPr id="15" name="Text 11"/>
          <p:cNvSpPr/>
          <p:nvPr/>
        </p:nvSpPr>
        <p:spPr>
          <a:xfrm>
            <a:off x="3474720" y="2103120"/>
            <a:ext cx="2468880" cy="594360"/>
          </a:xfrm>
          <a:prstGeom prst="rect">
            <a:avLst/>
          </a:prstGeom>
          <a:noFill/>
          <a:ln/>
        </p:spPr>
        <p:txBody>
          <a:bodyPr wrap="square" lIns="0" tIns="0" rIns="0" bIns="0" rtlCol="0" anchor="ctr"/>
          <a:lstStyle/>
          <a:p>
            <a:pPr indent="0" marL="0">
              <a:spcAft>
                <a:spcPts val="400"/>
              </a:spcAft>
              <a:buNone/>
            </a:pPr>
            <a:r>
              <a:rPr lang="en-US" sz="1100" dirty="0">
                <a:solidFill>
                  <a:srgbClr val="64748B"/>
                </a:solidFill>
              </a:rPr>
              <a:t>14 percentage points above clinic average</a:t>
            </a:r>
            <a:endParaRPr lang="en-US" sz="1100" dirty="0"/>
          </a:p>
        </p:txBody>
      </p:sp>
      <p:sp>
        <p:nvSpPr>
          <p:cNvPr id="16" name="Shape 12"/>
          <p:cNvSpPr/>
          <p:nvPr/>
        </p:nvSpPr>
        <p:spPr>
          <a:xfrm>
            <a:off x="6263640" y="868680"/>
            <a:ext cx="2788920" cy="2331720"/>
          </a:xfrm>
          <a:prstGeom prst="rect">
            <a:avLst/>
          </a:prstGeom>
          <a:solidFill>
            <a:srgbClr val="F0FDF4"/>
          </a:solidFill>
          <a:ln w="19050">
            <a:solidFill>
              <a:srgbClr val="16A34A"/>
            </a:solidFill>
            <a:prstDash val="solid"/>
          </a:ln>
          <a:effectLst>
            <a:outerShdw sx="100000" sy="100000" kx="0" ky="0" algn="bl" rotWithShape="0" blurRad="76200" dist="25400" dir="8100000">
              <a:srgbClr val="000000">
                <a:alpha val="8000"/>
              </a:srgbClr>
            </a:outerShdw>
          </a:effectLst>
        </p:spPr>
      </p:sp>
      <p:sp>
        <p:nvSpPr>
          <p:cNvPr id="17" name="Shape 13"/>
          <p:cNvSpPr/>
          <p:nvPr/>
        </p:nvSpPr>
        <p:spPr>
          <a:xfrm>
            <a:off x="6263640" y="868680"/>
            <a:ext cx="64008" cy="2331720"/>
          </a:xfrm>
          <a:prstGeom prst="rect">
            <a:avLst/>
          </a:prstGeom>
          <a:solidFill>
            <a:srgbClr val="16A34A"/>
          </a:solidFill>
          <a:ln w="12700">
            <a:solidFill>
              <a:srgbClr val="16A34A"/>
            </a:solidFill>
            <a:prstDash val="solid"/>
          </a:ln>
        </p:spPr>
      </p:sp>
      <p:pic>
        <p:nvPicPr>
          <p:cNvPr id="18" name="Image 2" descr="preencoded.png">    </p:cNvPr>
          <p:cNvPicPr>
            <a:picLocks noChangeAspect="1"/>
          </p:cNvPicPr>
          <p:nvPr/>
        </p:nvPicPr>
        <p:blipFill>
          <a:blip r:embed="rId3"/>
          <a:stretch>
            <a:fillRect/>
          </a:stretch>
        </p:blipFill>
        <p:spPr>
          <a:xfrm>
            <a:off x="6492240" y="1005840"/>
            <a:ext cx="411480" cy="411480"/>
          </a:xfrm>
          <a:prstGeom prst="rect">
            <a:avLst/>
          </a:prstGeom>
        </p:spPr>
      </p:pic>
      <p:sp>
        <p:nvSpPr>
          <p:cNvPr id="19" name="Text 14"/>
          <p:cNvSpPr/>
          <p:nvPr/>
        </p:nvSpPr>
        <p:spPr>
          <a:xfrm>
            <a:off x="6446520" y="1481328"/>
            <a:ext cx="2468880" cy="320040"/>
          </a:xfrm>
          <a:prstGeom prst="rect">
            <a:avLst/>
          </a:prstGeom>
          <a:noFill/>
          <a:ln/>
        </p:spPr>
        <p:txBody>
          <a:bodyPr wrap="square" lIns="0" tIns="0" rIns="0" bIns="0" rtlCol="0" anchor="ctr"/>
          <a:lstStyle/>
          <a:p>
            <a:pPr indent="0" marL="0">
              <a:buNone/>
            </a:pPr>
            <a:r>
              <a:rPr lang="en-US" sz="1400" b="1" dirty="0">
                <a:solidFill>
                  <a:srgbClr val="0F172A"/>
                </a:solidFill>
              </a:rPr>
              <a:t>SMS Reminders Work</a:t>
            </a:r>
            <a:endParaRPr lang="en-US" sz="1400" dirty="0"/>
          </a:p>
        </p:txBody>
      </p:sp>
      <p:sp>
        <p:nvSpPr>
          <p:cNvPr id="20" name="Text 15"/>
          <p:cNvSpPr/>
          <p:nvPr/>
        </p:nvSpPr>
        <p:spPr>
          <a:xfrm>
            <a:off x="6446520" y="1801368"/>
            <a:ext cx="2468880" cy="274320"/>
          </a:xfrm>
          <a:prstGeom prst="rect">
            <a:avLst/>
          </a:prstGeom>
          <a:noFill/>
          <a:ln/>
        </p:spPr>
        <p:txBody>
          <a:bodyPr wrap="square" lIns="0" tIns="0" rIns="0" bIns="0" rtlCol="0" anchor="ctr"/>
          <a:lstStyle/>
          <a:p>
            <a:pPr indent="0" marL="0">
              <a:buNone/>
            </a:pPr>
            <a:r>
              <a:rPr lang="en-US" sz="1300" b="1" dirty="0">
                <a:solidFill>
                  <a:srgbClr val="16A34A"/>
                </a:solidFill>
              </a:rPr>
              <a:t>~8pp reduction in no-shows</a:t>
            </a:r>
            <a:endParaRPr lang="en-US" sz="1300" dirty="0"/>
          </a:p>
        </p:txBody>
      </p:sp>
      <p:sp>
        <p:nvSpPr>
          <p:cNvPr id="21" name="Text 16"/>
          <p:cNvSpPr/>
          <p:nvPr/>
        </p:nvSpPr>
        <p:spPr>
          <a:xfrm>
            <a:off x="6446520" y="2103120"/>
            <a:ext cx="2468880" cy="594360"/>
          </a:xfrm>
          <a:prstGeom prst="rect">
            <a:avLst/>
          </a:prstGeom>
          <a:noFill/>
          <a:ln/>
        </p:spPr>
        <p:txBody>
          <a:bodyPr wrap="square" lIns="0" tIns="0" rIns="0" bIns="0" rtlCol="0" anchor="ctr"/>
          <a:lstStyle/>
          <a:p>
            <a:pPr indent="0" marL="0">
              <a:spcAft>
                <a:spcPts val="400"/>
              </a:spcAft>
              <a:buNone/>
            </a:pPr>
            <a:r>
              <a:rPr lang="en-US" sz="1100" dirty="0">
                <a:solidFill>
                  <a:srgbClr val="64748B"/>
                </a:solidFill>
              </a:rPr>
              <a:t>Measurable, consistent effect on attendance</a:t>
            </a:r>
            <a:endParaRPr lang="en-US" sz="1100" dirty="0"/>
          </a:p>
        </p:txBody>
      </p:sp>
      <p:graphicFrame>
        <p:nvGraphicFramePr>
          <p:cNvPr id="22" name="Chart 0" descr=""/>
          <p:cNvGraphicFramePr/>
          <p:nvPr/>
        </p:nvGraphicFramePr>
        <p:xfrm>
          <a:off x="320040" y="3337560"/>
          <a:ext cx="8503920" cy="1463040"/>
        </p:xfrm>
        <a:graphic xmlns:a="http://schemas.openxmlformats.org/drawingml/2006/main">
          <a:graphicData uri="http://schemas.openxmlformats.org/drawingml/2006/chart">
            <c:chart xmlns:c="http://schemas.openxmlformats.org/drawingml/2006/chart" r:id="rId4"/>
          </a:graphicData>
        </a:graphic>
      </p:graphicFrame>
      <p:sp>
        <p:nvSpPr>
          <p:cNvPr id="23" name="Shape 17"/>
          <p:cNvSpPr/>
          <p:nvPr/>
        </p:nvSpPr>
        <p:spPr>
          <a:xfrm>
            <a:off x="0" y="4937760"/>
            <a:ext cx="9144000" cy="205740"/>
          </a:xfrm>
          <a:prstGeom prst="rect">
            <a:avLst/>
          </a:prstGeom>
          <a:solidFill>
            <a:srgbClr val="0A5470"/>
          </a:solidFill>
          <a:ln w="12700">
            <a:solidFill>
              <a:srgbClr val="0A5470"/>
            </a:solidFill>
            <a:prstDash val="solid"/>
          </a:ln>
        </p:spPr>
      </p:sp>
      <p:sp>
        <p:nvSpPr>
          <p:cNvPr id="24" name="Text 18"/>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2 / 11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indent="0" marL="0">
              <a:buNone/>
            </a:pPr>
            <a:r>
              <a:rPr lang="en-US" sz="2800" b="1" dirty="0">
                <a:solidFill>
                  <a:srgbClr val="0A5470"/>
                </a:solidFill>
                <a:latin typeface="Calibri Light" pitchFamily="34" charset="0"/>
                <a:ea typeface="Calibri Light" pitchFamily="34" charset="-122"/>
                <a:cs typeface="Calibri Light" pitchFamily="34" charset="-120"/>
              </a:rPr>
              <a:t>You're Right to Question AI</a:t>
            </a:r>
            <a:endParaRPr lang="en-US" sz="2800" dirty="0"/>
          </a:p>
        </p:txBody>
      </p:sp>
      <p:sp>
        <p:nvSpPr>
          <p:cNvPr id="4" name="Shape 2"/>
          <p:cNvSpPr/>
          <p:nvPr/>
        </p:nvSpPr>
        <p:spPr>
          <a:xfrm>
            <a:off x="365760" y="822960"/>
            <a:ext cx="3703320" cy="3291840"/>
          </a:xfrm>
          <a:prstGeom prst="rect">
            <a:avLst/>
          </a:prstGeom>
          <a:solidFill>
            <a:srgbClr val="FEF2F2"/>
          </a:solidFill>
          <a:ln w="19050">
            <a:solidFill>
              <a:srgbClr val="FECACA"/>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365760" y="822960"/>
            <a:ext cx="3703320" cy="457200"/>
          </a:xfrm>
          <a:prstGeom prst="rect">
            <a:avLst/>
          </a:prstGeom>
          <a:solidFill>
            <a:srgbClr val="DC2626"/>
          </a:solidFill>
          <a:ln w="12700">
            <a:solidFill>
              <a:srgbClr val="DC2626"/>
            </a:solidFill>
            <a:prstDash val="solid"/>
          </a:ln>
        </p:spPr>
      </p:sp>
      <p:sp>
        <p:nvSpPr>
          <p:cNvPr id="6" name="Text 4"/>
          <p:cNvSpPr/>
          <p:nvPr/>
        </p:nvSpPr>
        <p:spPr>
          <a:xfrm>
            <a:off x="457200" y="822960"/>
            <a:ext cx="3520440" cy="457200"/>
          </a:xfrm>
          <a:prstGeom prst="rect">
            <a:avLst/>
          </a:prstGeom>
          <a:noFill/>
          <a:ln/>
        </p:spPr>
        <p:txBody>
          <a:bodyPr wrap="square" lIns="0" tIns="0" rIns="0" bIns="0" rtlCol="0" anchor="ctr"/>
          <a:lstStyle/>
          <a:p>
            <a:pPr indent="0" marL="0">
              <a:buNone/>
            </a:pPr>
            <a:r>
              <a:rPr lang="en-US" sz="1500" b="1" dirty="0">
                <a:solidFill>
                  <a:srgbClr val="FFFFFF"/>
                </a:solidFill>
              </a:rPr>
              <a:t>❌  AI as a Black Box</a:t>
            </a:r>
            <a:endParaRPr lang="en-US" sz="1500" dirty="0"/>
          </a:p>
        </p:txBody>
      </p:sp>
      <p:sp>
        <p:nvSpPr>
          <p:cNvPr id="7" name="Text 5"/>
          <p:cNvSpPr/>
          <p:nvPr/>
        </p:nvSpPr>
        <p:spPr>
          <a:xfrm>
            <a:off x="594360" y="1417320"/>
            <a:ext cx="3291840" cy="457200"/>
          </a:xfrm>
          <a:prstGeom prst="rect">
            <a:avLst/>
          </a:prstGeom>
          <a:noFill/>
          <a:ln/>
        </p:spPr>
        <p:txBody>
          <a:bodyPr wrap="square" lIns="0" tIns="0" rIns="0" bIns="0" rtlCol="0" anchor="ctr"/>
          <a:lstStyle/>
          <a:p>
            <a:pPr indent="0" marL="0">
              <a:buNone/>
            </a:pPr>
            <a:r>
              <a:rPr lang="en-US" sz="1300" dirty="0">
                <a:solidFill>
                  <a:srgbClr val="334155"/>
                </a:solidFill>
              </a:rPr>
              <a:t>No explanation for outputs</a:t>
            </a:r>
            <a:endParaRPr lang="en-US" sz="1300" dirty="0"/>
          </a:p>
        </p:txBody>
      </p:sp>
      <p:sp>
        <p:nvSpPr>
          <p:cNvPr id="8" name="Shape 6"/>
          <p:cNvSpPr/>
          <p:nvPr/>
        </p:nvSpPr>
        <p:spPr>
          <a:xfrm>
            <a:off x="457200" y="1527048"/>
            <a:ext cx="109728" cy="109728"/>
          </a:xfrm>
          <a:prstGeom prst="ellipse">
            <a:avLst/>
          </a:prstGeom>
          <a:solidFill>
            <a:srgbClr val="DC2626"/>
          </a:solidFill>
          <a:ln w="12700">
            <a:solidFill>
              <a:srgbClr val="DC2626"/>
            </a:solidFill>
            <a:prstDash val="solid"/>
          </a:ln>
        </p:spPr>
      </p:sp>
      <p:sp>
        <p:nvSpPr>
          <p:cNvPr id="9" name="Text 7"/>
          <p:cNvSpPr/>
          <p:nvPr/>
        </p:nvSpPr>
        <p:spPr>
          <a:xfrm>
            <a:off x="594360" y="1965960"/>
            <a:ext cx="3291840" cy="457200"/>
          </a:xfrm>
          <a:prstGeom prst="rect">
            <a:avLst/>
          </a:prstGeom>
          <a:noFill/>
          <a:ln/>
        </p:spPr>
        <p:txBody>
          <a:bodyPr wrap="square" lIns="0" tIns="0" rIns="0" bIns="0" rtlCol="0" anchor="ctr"/>
          <a:lstStyle/>
          <a:p>
            <a:pPr indent="0" marL="0">
              <a:buNone/>
            </a:pPr>
            <a:r>
              <a:rPr lang="en-US" sz="1300" dirty="0">
                <a:solidFill>
                  <a:srgbClr val="334155"/>
                </a:solidFill>
              </a:rPr>
              <a:t>Logic is hidden from users</a:t>
            </a:r>
            <a:endParaRPr lang="en-US" sz="1300" dirty="0"/>
          </a:p>
        </p:txBody>
      </p:sp>
      <p:sp>
        <p:nvSpPr>
          <p:cNvPr id="10" name="Shape 8"/>
          <p:cNvSpPr/>
          <p:nvPr/>
        </p:nvSpPr>
        <p:spPr>
          <a:xfrm>
            <a:off x="457200" y="2075688"/>
            <a:ext cx="109728" cy="109728"/>
          </a:xfrm>
          <a:prstGeom prst="ellipse">
            <a:avLst/>
          </a:prstGeom>
          <a:solidFill>
            <a:srgbClr val="DC2626"/>
          </a:solidFill>
          <a:ln w="12700">
            <a:solidFill>
              <a:srgbClr val="DC2626"/>
            </a:solidFill>
            <a:prstDash val="solid"/>
          </a:ln>
        </p:spPr>
      </p:sp>
      <p:sp>
        <p:nvSpPr>
          <p:cNvPr id="11" name="Text 9"/>
          <p:cNvSpPr/>
          <p:nvPr/>
        </p:nvSpPr>
        <p:spPr>
          <a:xfrm>
            <a:off x="594360" y="2514600"/>
            <a:ext cx="3291840" cy="457200"/>
          </a:xfrm>
          <a:prstGeom prst="rect">
            <a:avLst/>
          </a:prstGeom>
          <a:noFill/>
          <a:ln/>
        </p:spPr>
        <p:txBody>
          <a:bodyPr wrap="square" lIns="0" tIns="0" rIns="0" bIns="0" rtlCol="0" anchor="ctr"/>
          <a:lstStyle/>
          <a:p>
            <a:pPr indent="0" marL="0">
              <a:buNone/>
            </a:pPr>
            <a:r>
              <a:rPr lang="en-US" sz="1300" dirty="0">
                <a:solidFill>
                  <a:srgbClr val="334155"/>
                </a:solidFill>
              </a:rPr>
              <a:t>If wrong, no way to trace why</a:t>
            </a:r>
            <a:endParaRPr lang="en-US" sz="1300" dirty="0"/>
          </a:p>
        </p:txBody>
      </p:sp>
      <p:sp>
        <p:nvSpPr>
          <p:cNvPr id="12" name="Shape 10"/>
          <p:cNvSpPr/>
          <p:nvPr/>
        </p:nvSpPr>
        <p:spPr>
          <a:xfrm>
            <a:off x="457200" y="2624328"/>
            <a:ext cx="109728" cy="109728"/>
          </a:xfrm>
          <a:prstGeom prst="ellipse">
            <a:avLst/>
          </a:prstGeom>
          <a:solidFill>
            <a:srgbClr val="DC2626"/>
          </a:solidFill>
          <a:ln w="12700">
            <a:solidFill>
              <a:srgbClr val="DC2626"/>
            </a:solidFill>
            <a:prstDash val="solid"/>
          </a:ln>
        </p:spPr>
      </p:sp>
      <p:sp>
        <p:nvSpPr>
          <p:cNvPr id="13" name="Text 11"/>
          <p:cNvSpPr/>
          <p:nvPr/>
        </p:nvSpPr>
        <p:spPr>
          <a:xfrm>
            <a:off x="594360" y="3063240"/>
            <a:ext cx="3291840" cy="457200"/>
          </a:xfrm>
          <a:prstGeom prst="rect">
            <a:avLst/>
          </a:prstGeom>
          <a:noFill/>
          <a:ln/>
        </p:spPr>
        <p:txBody>
          <a:bodyPr wrap="square" lIns="0" tIns="0" rIns="0" bIns="0" rtlCol="0" anchor="ctr"/>
          <a:lstStyle/>
          <a:p>
            <a:pPr indent="0" marL="0">
              <a:buNone/>
            </a:pPr>
            <a:r>
              <a:rPr lang="en-US" sz="1300" dirty="0">
                <a:solidFill>
                  <a:srgbClr val="334155"/>
                </a:solidFill>
              </a:rPr>
              <a:t>"Just trust the algorithm"</a:t>
            </a:r>
            <a:endParaRPr lang="en-US" sz="1300" dirty="0"/>
          </a:p>
        </p:txBody>
      </p:sp>
      <p:sp>
        <p:nvSpPr>
          <p:cNvPr id="14" name="Shape 12"/>
          <p:cNvSpPr/>
          <p:nvPr/>
        </p:nvSpPr>
        <p:spPr>
          <a:xfrm>
            <a:off x="457200" y="3172968"/>
            <a:ext cx="109728" cy="109728"/>
          </a:xfrm>
          <a:prstGeom prst="ellipse">
            <a:avLst/>
          </a:prstGeom>
          <a:solidFill>
            <a:srgbClr val="DC2626"/>
          </a:solidFill>
          <a:ln w="12700">
            <a:solidFill>
              <a:srgbClr val="DC2626"/>
            </a:solidFill>
            <a:prstDash val="solid"/>
          </a:ln>
        </p:spPr>
      </p:sp>
      <p:sp>
        <p:nvSpPr>
          <p:cNvPr id="15" name="Shape 13"/>
          <p:cNvSpPr/>
          <p:nvPr/>
        </p:nvSpPr>
        <p:spPr>
          <a:xfrm>
            <a:off x="5074920" y="822960"/>
            <a:ext cx="3703320" cy="3291840"/>
          </a:xfrm>
          <a:prstGeom prst="rect">
            <a:avLst/>
          </a:prstGeom>
          <a:solidFill>
            <a:srgbClr val="E8F4F8"/>
          </a:solidFill>
          <a:ln w="19050">
            <a:solidFill>
              <a:srgbClr val="0D6B8A"/>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5074920" y="822960"/>
            <a:ext cx="3703320" cy="457200"/>
          </a:xfrm>
          <a:prstGeom prst="rect">
            <a:avLst/>
          </a:prstGeom>
          <a:solidFill>
            <a:srgbClr val="0D6B8A"/>
          </a:solidFill>
          <a:ln w="12700">
            <a:solidFill>
              <a:srgbClr val="0D6B8A"/>
            </a:solidFill>
            <a:prstDash val="solid"/>
          </a:ln>
        </p:spPr>
      </p:sp>
      <p:sp>
        <p:nvSpPr>
          <p:cNvPr id="17" name="Text 15"/>
          <p:cNvSpPr/>
          <p:nvPr/>
        </p:nvSpPr>
        <p:spPr>
          <a:xfrm>
            <a:off x="5166360" y="822960"/>
            <a:ext cx="3520440" cy="457200"/>
          </a:xfrm>
          <a:prstGeom prst="rect">
            <a:avLst/>
          </a:prstGeom>
          <a:noFill/>
          <a:ln/>
        </p:spPr>
        <p:txBody>
          <a:bodyPr wrap="square" lIns="0" tIns="0" rIns="0" bIns="0" rtlCol="0" anchor="ctr"/>
          <a:lstStyle/>
          <a:p>
            <a:pPr indent="0" marL="0">
              <a:buNone/>
            </a:pPr>
            <a:r>
              <a:rPr lang="en-US" sz="1500" b="1" dirty="0">
                <a:solidFill>
                  <a:srgbClr val="FFFFFF"/>
                </a:solidFill>
              </a:rPr>
              <a:t>✅  AI as a Transparent Tool</a:t>
            </a:r>
            <a:endParaRPr lang="en-US" sz="1500" dirty="0"/>
          </a:p>
        </p:txBody>
      </p:sp>
      <p:sp>
        <p:nvSpPr>
          <p:cNvPr id="18" name="Text 16"/>
          <p:cNvSpPr/>
          <p:nvPr/>
        </p:nvSpPr>
        <p:spPr>
          <a:xfrm>
            <a:off x="5303520" y="1417320"/>
            <a:ext cx="3291840" cy="457200"/>
          </a:xfrm>
          <a:prstGeom prst="rect">
            <a:avLst/>
          </a:prstGeom>
          <a:noFill/>
          <a:ln/>
        </p:spPr>
        <p:txBody>
          <a:bodyPr wrap="square" lIns="0" tIns="0" rIns="0" bIns="0" rtlCol="0" anchor="ctr"/>
          <a:lstStyle/>
          <a:p>
            <a:pPr indent="0" marL="0">
              <a:buNone/>
            </a:pPr>
            <a:r>
              <a:rPr lang="en-US" sz="1300" dirty="0">
                <a:solidFill>
                  <a:srgbClr val="334155"/>
                </a:solidFill>
              </a:rPr>
              <a:t>Every number is traceable</a:t>
            </a:r>
            <a:endParaRPr lang="en-US" sz="1300" dirty="0"/>
          </a:p>
        </p:txBody>
      </p:sp>
      <p:sp>
        <p:nvSpPr>
          <p:cNvPr id="19" name="Shape 17"/>
          <p:cNvSpPr/>
          <p:nvPr/>
        </p:nvSpPr>
        <p:spPr>
          <a:xfrm>
            <a:off x="5166360" y="1527048"/>
            <a:ext cx="109728" cy="109728"/>
          </a:xfrm>
          <a:prstGeom prst="ellipse">
            <a:avLst/>
          </a:prstGeom>
          <a:solidFill>
            <a:srgbClr val="0D6B8A"/>
          </a:solidFill>
          <a:ln w="12700">
            <a:solidFill>
              <a:srgbClr val="0D6B8A"/>
            </a:solidFill>
            <a:prstDash val="solid"/>
          </a:ln>
        </p:spPr>
      </p:sp>
      <p:sp>
        <p:nvSpPr>
          <p:cNvPr id="20" name="Text 18"/>
          <p:cNvSpPr/>
          <p:nvPr/>
        </p:nvSpPr>
        <p:spPr>
          <a:xfrm>
            <a:off x="5303520" y="1965960"/>
            <a:ext cx="3291840" cy="457200"/>
          </a:xfrm>
          <a:prstGeom prst="rect">
            <a:avLst/>
          </a:prstGeom>
          <a:noFill/>
          <a:ln/>
        </p:spPr>
        <p:txBody>
          <a:bodyPr wrap="square" lIns="0" tIns="0" rIns="0" bIns="0" rtlCol="0" anchor="ctr"/>
          <a:lstStyle/>
          <a:p>
            <a:pPr indent="0" marL="0">
              <a:buNone/>
            </a:pPr>
            <a:r>
              <a:rPr lang="en-US" sz="1300" dirty="0">
                <a:solidFill>
                  <a:srgbClr val="334155"/>
                </a:solidFill>
              </a:rPr>
              <a:t>Three clearly labelled layers</a:t>
            </a:r>
            <a:endParaRPr lang="en-US" sz="1300" dirty="0"/>
          </a:p>
        </p:txBody>
      </p:sp>
      <p:sp>
        <p:nvSpPr>
          <p:cNvPr id="21" name="Shape 19"/>
          <p:cNvSpPr/>
          <p:nvPr/>
        </p:nvSpPr>
        <p:spPr>
          <a:xfrm>
            <a:off x="5166360" y="2075688"/>
            <a:ext cx="109728" cy="109728"/>
          </a:xfrm>
          <a:prstGeom prst="ellipse">
            <a:avLst/>
          </a:prstGeom>
          <a:solidFill>
            <a:srgbClr val="0D6B8A"/>
          </a:solidFill>
          <a:ln w="12700">
            <a:solidFill>
              <a:srgbClr val="0D6B8A"/>
            </a:solidFill>
            <a:prstDash val="solid"/>
          </a:ln>
        </p:spPr>
      </p:sp>
      <p:sp>
        <p:nvSpPr>
          <p:cNvPr id="22" name="Text 20"/>
          <p:cNvSpPr/>
          <p:nvPr/>
        </p:nvSpPr>
        <p:spPr>
          <a:xfrm>
            <a:off x="5303520" y="2514600"/>
            <a:ext cx="3291840" cy="457200"/>
          </a:xfrm>
          <a:prstGeom prst="rect">
            <a:avLst/>
          </a:prstGeom>
          <a:noFill/>
          <a:ln/>
        </p:spPr>
        <p:txBody>
          <a:bodyPr wrap="square" lIns="0" tIns="0" rIns="0" bIns="0" rtlCol="0" anchor="ctr"/>
          <a:lstStyle/>
          <a:p>
            <a:pPr indent="0" marL="0">
              <a:buNone/>
            </a:pPr>
            <a:r>
              <a:rPr lang="en-US" sz="1300" dirty="0">
                <a:solidFill>
                  <a:srgbClr val="334155"/>
                </a:solidFill>
              </a:rPr>
              <a:t>Your team can audit any output</a:t>
            </a:r>
            <a:endParaRPr lang="en-US" sz="1300" dirty="0"/>
          </a:p>
        </p:txBody>
      </p:sp>
      <p:sp>
        <p:nvSpPr>
          <p:cNvPr id="23" name="Shape 21"/>
          <p:cNvSpPr/>
          <p:nvPr/>
        </p:nvSpPr>
        <p:spPr>
          <a:xfrm>
            <a:off x="5166360" y="2624328"/>
            <a:ext cx="109728" cy="109728"/>
          </a:xfrm>
          <a:prstGeom prst="ellipse">
            <a:avLst/>
          </a:prstGeom>
          <a:solidFill>
            <a:srgbClr val="0D6B8A"/>
          </a:solidFill>
          <a:ln w="12700">
            <a:solidFill>
              <a:srgbClr val="0D6B8A"/>
            </a:solidFill>
            <a:prstDash val="solid"/>
          </a:ln>
        </p:spPr>
      </p:sp>
      <p:sp>
        <p:nvSpPr>
          <p:cNvPr id="24" name="Text 22"/>
          <p:cNvSpPr/>
          <p:nvPr/>
        </p:nvSpPr>
        <p:spPr>
          <a:xfrm>
            <a:off x="5303520" y="3063240"/>
            <a:ext cx="3291840" cy="457200"/>
          </a:xfrm>
          <a:prstGeom prst="rect">
            <a:avLst/>
          </a:prstGeom>
          <a:noFill/>
          <a:ln/>
        </p:spPr>
        <p:txBody>
          <a:bodyPr wrap="square" lIns="0" tIns="0" rIns="0" bIns="0" rtlCol="0" anchor="ctr"/>
          <a:lstStyle/>
          <a:p>
            <a:pPr indent="0" marL="0">
              <a:buNone/>
            </a:pPr>
            <a:r>
              <a:rPr lang="en-US" sz="1300" dirty="0">
                <a:solidFill>
                  <a:srgbClr val="334155"/>
                </a:solidFill>
              </a:rPr>
              <a:t>Logic explained in plain language</a:t>
            </a:r>
            <a:endParaRPr lang="en-US" sz="1300" dirty="0"/>
          </a:p>
        </p:txBody>
      </p:sp>
      <p:sp>
        <p:nvSpPr>
          <p:cNvPr id="25" name="Shape 23"/>
          <p:cNvSpPr/>
          <p:nvPr/>
        </p:nvSpPr>
        <p:spPr>
          <a:xfrm>
            <a:off x="5166360" y="3172968"/>
            <a:ext cx="109728" cy="109728"/>
          </a:xfrm>
          <a:prstGeom prst="ellipse">
            <a:avLst/>
          </a:prstGeom>
          <a:solidFill>
            <a:srgbClr val="0D6B8A"/>
          </a:solidFill>
          <a:ln w="12700">
            <a:solidFill>
              <a:srgbClr val="0D6B8A"/>
            </a:solidFill>
            <a:prstDash val="solid"/>
          </a:ln>
        </p:spPr>
      </p:sp>
      <p:sp>
        <p:nvSpPr>
          <p:cNvPr id="26" name="Shape 24"/>
          <p:cNvSpPr/>
          <p:nvPr/>
        </p:nvSpPr>
        <p:spPr>
          <a:xfrm>
            <a:off x="4160520" y="2194560"/>
            <a:ext cx="822960" cy="109728"/>
          </a:xfrm>
          <a:prstGeom prst="rect">
            <a:avLst/>
          </a:prstGeom>
          <a:solidFill>
            <a:srgbClr val="E8762B"/>
          </a:solidFill>
          <a:ln w="12700">
            <a:solidFill>
              <a:srgbClr val="E8762B"/>
            </a:solidFill>
            <a:prstDash val="solid"/>
          </a:ln>
        </p:spPr>
      </p:sp>
      <p:sp>
        <p:nvSpPr>
          <p:cNvPr id="27" name="Text 25"/>
          <p:cNvSpPr/>
          <p:nvPr/>
        </p:nvSpPr>
        <p:spPr>
          <a:xfrm>
            <a:off x="4133088" y="2395728"/>
            <a:ext cx="877824" cy="411480"/>
          </a:xfrm>
          <a:prstGeom prst="rect">
            <a:avLst/>
          </a:prstGeom>
          <a:noFill/>
          <a:ln/>
        </p:spPr>
        <p:txBody>
          <a:bodyPr wrap="square" lIns="0" tIns="0" rIns="0" bIns="0" rtlCol="0" anchor="ctr"/>
          <a:lstStyle/>
          <a:p>
            <a:pPr algn="ctr" indent="0" marL="0">
              <a:buNone/>
            </a:pPr>
            <a:r>
              <a:rPr lang="en-US" sz="850" b="1" dirty="0">
                <a:solidFill>
                  <a:srgbClr val="E8762B"/>
                </a:solidFill>
              </a:rPr>
              <a:t>What</a:t>
            </a:r>
            <a:endParaRPr lang="en-US" sz="850" dirty="0"/>
          </a:p>
          <a:p>
            <a:pPr algn="ctr" indent="0" marL="0">
              <a:buNone/>
            </a:pPr>
            <a:r>
              <a:rPr lang="en-US" sz="850" b="1" dirty="0">
                <a:solidFill>
                  <a:srgbClr val="E8762B"/>
                </a:solidFill>
              </a:rPr>
              <a:t>we built</a:t>
            </a:r>
            <a:endParaRPr lang="en-US" sz="850" dirty="0"/>
          </a:p>
        </p:txBody>
      </p:sp>
      <p:sp>
        <p:nvSpPr>
          <p:cNvPr id="28" name="Shape 26"/>
          <p:cNvSpPr/>
          <p:nvPr/>
        </p:nvSpPr>
        <p:spPr>
          <a:xfrm>
            <a:off x="0" y="4937760"/>
            <a:ext cx="9144000" cy="205740"/>
          </a:xfrm>
          <a:prstGeom prst="rect">
            <a:avLst/>
          </a:prstGeom>
          <a:solidFill>
            <a:srgbClr val="0A5470"/>
          </a:solidFill>
          <a:ln w="12700">
            <a:solidFill>
              <a:srgbClr val="0A5470"/>
            </a:solidFill>
            <a:prstDash val="solid"/>
          </a:ln>
        </p:spPr>
      </p:sp>
      <p:sp>
        <p:nvSpPr>
          <p:cNvPr id="29" name="Text 27"/>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3 / 11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82880"/>
            <a:ext cx="8229600" cy="502920"/>
          </a:xfrm>
          <a:prstGeom prst="rect">
            <a:avLst/>
          </a:prstGeom>
          <a:noFill/>
          <a:ln/>
        </p:spPr>
        <p:txBody>
          <a:bodyPr wrap="square" lIns="0" tIns="0" rIns="0" bIns="0" rtlCol="0" anchor="ctr"/>
          <a:lstStyle/>
          <a:p>
            <a:pPr indent="0" marL="0">
              <a:buNone/>
            </a:pPr>
            <a:r>
              <a:rPr lang="en-US" sz="2800" b="1" dirty="0">
                <a:solidFill>
                  <a:srgbClr val="0A5470"/>
                </a:solidFill>
                <a:latin typeface="Calibri Light" pitchFamily="34" charset="0"/>
                <a:ea typeface="Calibri Light" pitchFamily="34" charset="-122"/>
                <a:cs typeface="Calibri Light" pitchFamily="34" charset="-120"/>
              </a:rPr>
              <a:t>Three Layers. Nothing Hidden.</a:t>
            </a:r>
            <a:endParaRPr lang="en-US" sz="2800" dirty="0"/>
          </a:p>
        </p:txBody>
      </p:sp>
      <p:sp>
        <p:nvSpPr>
          <p:cNvPr id="4" name="Shape 2"/>
          <p:cNvSpPr/>
          <p:nvPr/>
        </p:nvSpPr>
        <p:spPr>
          <a:xfrm>
            <a:off x="274320" y="822960"/>
            <a:ext cx="2788920" cy="3840480"/>
          </a:xfrm>
          <a:prstGeom prst="rect">
            <a:avLst/>
          </a:prstGeom>
          <a:solidFill>
            <a:srgbClr val="EFF6FF"/>
          </a:solidFill>
          <a:ln w="19050">
            <a:solidFill>
              <a:srgbClr val="1D4ED8"/>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274320" y="822960"/>
            <a:ext cx="2788920" cy="640080"/>
          </a:xfrm>
          <a:prstGeom prst="rect">
            <a:avLst/>
          </a:prstGeom>
          <a:solidFill>
            <a:srgbClr val="1D4ED8"/>
          </a:solidFill>
          <a:ln w="12700">
            <a:solidFill>
              <a:srgbClr val="1D4ED8"/>
            </a:solidFill>
            <a:prstDash val="solid"/>
          </a:ln>
        </p:spPr>
      </p:sp>
      <p:sp>
        <p:nvSpPr>
          <p:cNvPr id="6" name="Text 4"/>
          <p:cNvSpPr/>
          <p:nvPr/>
        </p:nvSpPr>
        <p:spPr>
          <a:xfrm>
            <a:off x="384048" y="822960"/>
            <a:ext cx="502920" cy="640080"/>
          </a:xfrm>
          <a:prstGeom prst="rect">
            <a:avLst/>
          </a:prstGeom>
          <a:noFill/>
          <a:ln/>
        </p:spPr>
        <p:txBody>
          <a:bodyPr wrap="square" lIns="0" tIns="0" rIns="0" bIns="0" rtlCol="0" anchor="ctr"/>
          <a:lstStyle/>
          <a:p>
            <a:pPr indent="0" marL="0">
              <a:buNone/>
            </a:pPr>
            <a:r>
              <a:rPr lang="en-US" sz="2200" b="1" dirty="0">
                <a:solidFill>
                  <a:srgbClr val="FFFFFF"/>
                </a:solidFill>
              </a:rPr>
              <a:t>01</a:t>
            </a:r>
            <a:endParaRPr lang="en-US" sz="2200" dirty="0"/>
          </a:p>
        </p:txBody>
      </p:sp>
      <p:sp>
        <p:nvSpPr>
          <p:cNvPr id="7" name="Text 5"/>
          <p:cNvSpPr/>
          <p:nvPr/>
        </p:nvSpPr>
        <p:spPr>
          <a:xfrm>
            <a:off x="914400" y="822960"/>
            <a:ext cx="2057400" cy="640080"/>
          </a:xfrm>
          <a:prstGeom prst="rect">
            <a:avLst/>
          </a:prstGeom>
          <a:noFill/>
          <a:ln/>
        </p:spPr>
        <p:txBody>
          <a:bodyPr wrap="square" lIns="0" tIns="0" rIns="0" bIns="0" rtlCol="0" anchor="ctr"/>
          <a:lstStyle/>
          <a:p>
            <a:pPr indent="0" marL="0">
              <a:buNone/>
            </a:pPr>
            <a:r>
              <a:rPr lang="en-US" sz="1100" b="1" spc="100" kern="0" dirty="0">
                <a:solidFill>
                  <a:srgbClr val="FFFFFF"/>
                </a:solidFill>
              </a:rPr>
              <a:t>OBSERVED DATA</a:t>
            </a:r>
            <a:endParaRPr lang="en-US" sz="1100" dirty="0"/>
          </a:p>
        </p:txBody>
      </p:sp>
      <p:pic>
        <p:nvPicPr>
          <p:cNvPr id="8" name="Image 0" descr="preencoded.png">    </p:cNvPr>
          <p:cNvPicPr>
            <a:picLocks noChangeAspect="1"/>
          </p:cNvPicPr>
          <p:nvPr/>
        </p:nvPicPr>
        <p:blipFill>
          <a:blip r:embed="rId1"/>
          <a:stretch>
            <a:fillRect/>
          </a:stretch>
        </p:blipFill>
        <p:spPr>
          <a:xfrm>
            <a:off x="1325880" y="1600200"/>
            <a:ext cx="640080" cy="640080"/>
          </a:xfrm>
          <a:prstGeom prst="rect">
            <a:avLst/>
          </a:prstGeom>
        </p:spPr>
      </p:pic>
      <p:sp>
        <p:nvSpPr>
          <p:cNvPr id="9" name="Text 6"/>
          <p:cNvSpPr/>
          <p:nvPr/>
        </p:nvSpPr>
        <p:spPr>
          <a:xfrm>
            <a:off x="438912" y="2331720"/>
            <a:ext cx="2468880" cy="365760"/>
          </a:xfrm>
          <a:prstGeom prst="rect">
            <a:avLst/>
          </a:prstGeom>
          <a:noFill/>
          <a:ln/>
        </p:spPr>
        <p:txBody>
          <a:bodyPr wrap="square" lIns="0" tIns="0" rIns="0" bIns="0" rtlCol="0" anchor="ctr"/>
          <a:lstStyle/>
          <a:p>
            <a:pPr algn="ctr" indent="0" marL="0">
              <a:buNone/>
            </a:pPr>
            <a:r>
              <a:rPr lang="en-US" sz="1300" b="1" dirty="0">
                <a:solidFill>
                  <a:srgbClr val="0F172A"/>
                </a:solidFill>
              </a:rPr>
              <a:t>Direct from your records</a:t>
            </a:r>
            <a:endParaRPr lang="en-US" sz="1300" dirty="0"/>
          </a:p>
        </p:txBody>
      </p:sp>
      <p:sp>
        <p:nvSpPr>
          <p:cNvPr id="10" name="Text 7"/>
          <p:cNvSpPr/>
          <p:nvPr/>
        </p:nvSpPr>
        <p:spPr>
          <a:xfrm>
            <a:off x="438912" y="2724912"/>
            <a:ext cx="2468880" cy="320040"/>
          </a:xfrm>
          <a:prstGeom prst="rect">
            <a:avLst/>
          </a:prstGeom>
          <a:noFill/>
          <a:ln/>
        </p:spPr>
        <p:txBody>
          <a:bodyPr wrap="square" lIns="0" tIns="0" rIns="0" bIns="0" rtlCol="0" anchor="ctr"/>
          <a:lstStyle/>
          <a:p>
            <a:pPr algn="ctr" indent="0" marL="0">
              <a:buNone/>
            </a:pPr>
            <a:r>
              <a:rPr lang="en-US" sz="1150" dirty="0">
                <a:solidFill>
                  <a:srgbClr val="64748B"/>
                </a:solidFill>
              </a:rPr>
              <a:t>No interpretation — pure fact</a:t>
            </a:r>
            <a:endParaRPr lang="en-US" sz="1150" dirty="0"/>
          </a:p>
        </p:txBody>
      </p:sp>
      <p:sp>
        <p:nvSpPr>
          <p:cNvPr id="11" name="Shape 8"/>
          <p:cNvSpPr/>
          <p:nvPr/>
        </p:nvSpPr>
        <p:spPr>
          <a:xfrm>
            <a:off x="438912" y="3200400"/>
            <a:ext cx="2468880" cy="777240"/>
          </a:xfrm>
          <a:prstGeom prst="rect">
            <a:avLst/>
          </a:prstGeom>
          <a:solidFill>
            <a:srgbClr val="FFFFFF"/>
          </a:solidFill>
          <a:ln w="12700">
            <a:solidFill>
              <a:srgbClr val="1D4ED8"/>
            </a:solidFill>
            <a:prstDash val="solid"/>
          </a:ln>
        </p:spPr>
      </p:sp>
      <p:sp>
        <p:nvSpPr>
          <p:cNvPr id="12" name="Text 9"/>
          <p:cNvSpPr/>
          <p:nvPr/>
        </p:nvSpPr>
        <p:spPr>
          <a:xfrm>
            <a:off x="502920" y="3246120"/>
            <a:ext cx="2331720" cy="685800"/>
          </a:xfrm>
          <a:prstGeom prst="rect">
            <a:avLst/>
          </a:prstGeom>
          <a:noFill/>
          <a:ln/>
        </p:spPr>
        <p:txBody>
          <a:bodyPr wrap="square" lIns="0" tIns="0" rIns="0" bIns="0" rtlCol="0" anchor="ctr"/>
          <a:lstStyle/>
          <a:p>
            <a:pPr indent="0" marL="0">
              <a:spcAft>
                <a:spcPts val="200"/>
              </a:spcAft>
              <a:buNone/>
            </a:pPr>
            <a:r>
              <a:rPr lang="en-US" sz="1000" i="1" dirty="0">
                <a:solidFill>
                  <a:srgbClr val="334155"/>
                </a:solidFill>
              </a:rPr>
              <a:t>e.g. No-show count: 29,871 appointments</a:t>
            </a:r>
            <a:endParaRPr lang="en-US" sz="1000" dirty="0"/>
          </a:p>
        </p:txBody>
      </p:sp>
      <p:sp>
        <p:nvSpPr>
          <p:cNvPr id="13" name="Shape 10"/>
          <p:cNvSpPr/>
          <p:nvPr/>
        </p:nvSpPr>
        <p:spPr>
          <a:xfrm>
            <a:off x="3246120" y="822960"/>
            <a:ext cx="2788920" cy="3840480"/>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14" name="Shape 11"/>
          <p:cNvSpPr/>
          <p:nvPr/>
        </p:nvSpPr>
        <p:spPr>
          <a:xfrm>
            <a:off x="3246120" y="822960"/>
            <a:ext cx="2788920" cy="640080"/>
          </a:xfrm>
          <a:prstGeom prst="rect">
            <a:avLst/>
          </a:prstGeom>
          <a:solidFill>
            <a:srgbClr val="0D6B8A"/>
          </a:solidFill>
          <a:ln w="12700">
            <a:solidFill>
              <a:srgbClr val="0D6B8A"/>
            </a:solidFill>
            <a:prstDash val="solid"/>
          </a:ln>
        </p:spPr>
      </p:sp>
      <p:sp>
        <p:nvSpPr>
          <p:cNvPr id="15" name="Text 12"/>
          <p:cNvSpPr/>
          <p:nvPr/>
        </p:nvSpPr>
        <p:spPr>
          <a:xfrm>
            <a:off x="3355848" y="822960"/>
            <a:ext cx="502920" cy="640080"/>
          </a:xfrm>
          <a:prstGeom prst="rect">
            <a:avLst/>
          </a:prstGeom>
          <a:noFill/>
          <a:ln/>
        </p:spPr>
        <p:txBody>
          <a:bodyPr wrap="square" lIns="0" tIns="0" rIns="0" bIns="0" rtlCol="0" anchor="ctr"/>
          <a:lstStyle/>
          <a:p>
            <a:pPr indent="0" marL="0">
              <a:buNone/>
            </a:pPr>
            <a:r>
              <a:rPr lang="en-US" sz="2200" b="1" dirty="0">
                <a:solidFill>
                  <a:srgbClr val="FFFFFF"/>
                </a:solidFill>
              </a:rPr>
              <a:t>02</a:t>
            </a:r>
            <a:endParaRPr lang="en-US" sz="2200" dirty="0"/>
          </a:p>
        </p:txBody>
      </p:sp>
      <p:sp>
        <p:nvSpPr>
          <p:cNvPr id="16" name="Text 13"/>
          <p:cNvSpPr/>
          <p:nvPr/>
        </p:nvSpPr>
        <p:spPr>
          <a:xfrm>
            <a:off x="3886200" y="822960"/>
            <a:ext cx="2057400" cy="640080"/>
          </a:xfrm>
          <a:prstGeom prst="rect">
            <a:avLst/>
          </a:prstGeom>
          <a:noFill/>
          <a:ln/>
        </p:spPr>
        <p:txBody>
          <a:bodyPr wrap="square" lIns="0" tIns="0" rIns="0" bIns="0" rtlCol="0" anchor="ctr"/>
          <a:lstStyle/>
          <a:p>
            <a:pPr indent="0" marL="0">
              <a:buNone/>
            </a:pPr>
            <a:r>
              <a:rPr lang="en-US" sz="1100" b="1" spc="100" kern="0" dirty="0">
                <a:solidFill>
                  <a:srgbClr val="FFFFFF"/>
                </a:solidFill>
              </a:rPr>
              <a:t>AI INSIGHT</a:t>
            </a:r>
            <a:endParaRPr lang="en-US" sz="1100" dirty="0"/>
          </a:p>
        </p:txBody>
      </p:sp>
      <p:pic>
        <p:nvPicPr>
          <p:cNvPr id="17" name="Image 1" descr="preencoded.png">    </p:cNvPr>
          <p:cNvPicPr>
            <a:picLocks noChangeAspect="1"/>
          </p:cNvPicPr>
          <p:nvPr/>
        </p:nvPicPr>
        <p:blipFill>
          <a:blip r:embed="rId2"/>
          <a:stretch>
            <a:fillRect/>
          </a:stretch>
        </p:blipFill>
        <p:spPr>
          <a:xfrm>
            <a:off x="4297680" y="1600200"/>
            <a:ext cx="640080" cy="640080"/>
          </a:xfrm>
          <a:prstGeom prst="rect">
            <a:avLst/>
          </a:prstGeom>
        </p:spPr>
      </p:pic>
      <p:sp>
        <p:nvSpPr>
          <p:cNvPr id="18" name="Text 14"/>
          <p:cNvSpPr/>
          <p:nvPr/>
        </p:nvSpPr>
        <p:spPr>
          <a:xfrm>
            <a:off x="3410712" y="2331720"/>
            <a:ext cx="2468880" cy="365760"/>
          </a:xfrm>
          <a:prstGeom prst="rect">
            <a:avLst/>
          </a:prstGeom>
          <a:noFill/>
          <a:ln/>
        </p:spPr>
        <p:txBody>
          <a:bodyPr wrap="square" lIns="0" tIns="0" rIns="0" bIns="0" rtlCol="0" anchor="ctr"/>
          <a:lstStyle/>
          <a:p>
            <a:pPr algn="ctr" indent="0" marL="0">
              <a:buNone/>
            </a:pPr>
            <a:r>
              <a:rPr lang="en-US" sz="1300" b="1" dirty="0">
                <a:solidFill>
                  <a:srgbClr val="0F172A"/>
                </a:solidFill>
              </a:rPr>
              <a:t>Pattern detection + explanation</a:t>
            </a:r>
            <a:endParaRPr lang="en-US" sz="1300" dirty="0"/>
          </a:p>
        </p:txBody>
      </p:sp>
      <p:sp>
        <p:nvSpPr>
          <p:cNvPr id="19" name="Text 15"/>
          <p:cNvSpPr/>
          <p:nvPr/>
        </p:nvSpPr>
        <p:spPr>
          <a:xfrm>
            <a:off x="3410712" y="2724912"/>
            <a:ext cx="2468880" cy="320040"/>
          </a:xfrm>
          <a:prstGeom prst="rect">
            <a:avLst/>
          </a:prstGeom>
          <a:noFill/>
          <a:ln/>
        </p:spPr>
        <p:txBody>
          <a:bodyPr wrap="square" lIns="0" tIns="0" rIns="0" bIns="0" rtlCol="0" anchor="ctr"/>
          <a:lstStyle/>
          <a:p>
            <a:pPr algn="ctr" indent="0" marL="0">
              <a:buNone/>
            </a:pPr>
            <a:r>
              <a:rPr lang="en-US" sz="1150" dirty="0">
                <a:solidFill>
                  <a:srgbClr val="64748B"/>
                </a:solidFill>
              </a:rPr>
              <a:t>Shows its reasoning clearly</a:t>
            </a:r>
            <a:endParaRPr lang="en-US" sz="1150" dirty="0"/>
          </a:p>
        </p:txBody>
      </p:sp>
      <p:sp>
        <p:nvSpPr>
          <p:cNvPr id="20" name="Shape 16"/>
          <p:cNvSpPr/>
          <p:nvPr/>
        </p:nvSpPr>
        <p:spPr>
          <a:xfrm>
            <a:off x="3410712" y="3200400"/>
            <a:ext cx="2468880" cy="777240"/>
          </a:xfrm>
          <a:prstGeom prst="rect">
            <a:avLst/>
          </a:prstGeom>
          <a:solidFill>
            <a:srgbClr val="FFFFFF"/>
          </a:solidFill>
          <a:ln w="12700">
            <a:solidFill>
              <a:srgbClr val="0D6B8A"/>
            </a:solidFill>
            <a:prstDash val="solid"/>
          </a:ln>
        </p:spPr>
      </p:sp>
      <p:sp>
        <p:nvSpPr>
          <p:cNvPr id="21" name="Text 17"/>
          <p:cNvSpPr/>
          <p:nvPr/>
        </p:nvSpPr>
        <p:spPr>
          <a:xfrm>
            <a:off x="3474720" y="3246120"/>
            <a:ext cx="2331720" cy="685800"/>
          </a:xfrm>
          <a:prstGeom prst="rect">
            <a:avLst/>
          </a:prstGeom>
          <a:noFill/>
          <a:ln/>
        </p:spPr>
        <p:txBody>
          <a:bodyPr wrap="square" lIns="0" tIns="0" rIns="0" bIns="0" rtlCol="0" anchor="ctr"/>
          <a:lstStyle/>
          <a:p>
            <a:pPr indent="0" marL="0">
              <a:spcAft>
                <a:spcPts val="200"/>
              </a:spcAft>
              <a:buNone/>
            </a:pPr>
            <a:r>
              <a:rPr lang="en-US" sz="1000" i="1" dirty="0">
                <a:solidFill>
                  <a:srgbClr val="334155"/>
                </a:solidFill>
              </a:rPr>
              <a:t>e.g. Monday BH spike = high lead time + low reminders</a:t>
            </a:r>
            <a:endParaRPr lang="en-US" sz="1000" dirty="0"/>
          </a:p>
        </p:txBody>
      </p:sp>
      <p:sp>
        <p:nvSpPr>
          <p:cNvPr id="22" name="Shape 18"/>
          <p:cNvSpPr/>
          <p:nvPr/>
        </p:nvSpPr>
        <p:spPr>
          <a:xfrm>
            <a:off x="6217920" y="822960"/>
            <a:ext cx="2788920" cy="3840480"/>
          </a:xfrm>
          <a:prstGeom prst="rect">
            <a:avLst/>
          </a:prstGeom>
          <a:solidFill>
            <a:srgbClr val="FFF0E6"/>
          </a:solidFill>
          <a:ln w="19050">
            <a:solidFill>
              <a:srgbClr val="E8762B"/>
            </a:solidFill>
            <a:prstDash val="solid"/>
          </a:ln>
          <a:effectLst>
            <a:outerShdw sx="100000" sy="100000" kx="0" ky="0" algn="bl" rotWithShape="0" blurRad="76200" dist="25400" dir="8100000">
              <a:srgbClr val="000000">
                <a:alpha val="8000"/>
              </a:srgbClr>
            </a:outerShdw>
          </a:effectLst>
        </p:spPr>
      </p:sp>
      <p:sp>
        <p:nvSpPr>
          <p:cNvPr id="23" name="Shape 19"/>
          <p:cNvSpPr/>
          <p:nvPr/>
        </p:nvSpPr>
        <p:spPr>
          <a:xfrm>
            <a:off x="6217920" y="822960"/>
            <a:ext cx="2788920" cy="640080"/>
          </a:xfrm>
          <a:prstGeom prst="rect">
            <a:avLst/>
          </a:prstGeom>
          <a:solidFill>
            <a:srgbClr val="E8762B"/>
          </a:solidFill>
          <a:ln w="12700">
            <a:solidFill>
              <a:srgbClr val="E8762B"/>
            </a:solidFill>
            <a:prstDash val="solid"/>
          </a:ln>
        </p:spPr>
      </p:sp>
      <p:sp>
        <p:nvSpPr>
          <p:cNvPr id="24" name="Text 20"/>
          <p:cNvSpPr/>
          <p:nvPr/>
        </p:nvSpPr>
        <p:spPr>
          <a:xfrm>
            <a:off x="6327648" y="822960"/>
            <a:ext cx="502920" cy="640080"/>
          </a:xfrm>
          <a:prstGeom prst="rect">
            <a:avLst/>
          </a:prstGeom>
          <a:noFill/>
          <a:ln/>
        </p:spPr>
        <p:txBody>
          <a:bodyPr wrap="square" lIns="0" tIns="0" rIns="0" bIns="0" rtlCol="0" anchor="ctr"/>
          <a:lstStyle/>
          <a:p>
            <a:pPr indent="0" marL="0">
              <a:buNone/>
            </a:pPr>
            <a:r>
              <a:rPr lang="en-US" sz="2200" b="1" dirty="0">
                <a:solidFill>
                  <a:srgbClr val="FFFFFF"/>
                </a:solidFill>
              </a:rPr>
              <a:t>03</a:t>
            </a:r>
            <a:endParaRPr lang="en-US" sz="2200" dirty="0"/>
          </a:p>
        </p:txBody>
      </p:sp>
      <p:sp>
        <p:nvSpPr>
          <p:cNvPr id="25" name="Text 21"/>
          <p:cNvSpPr/>
          <p:nvPr/>
        </p:nvSpPr>
        <p:spPr>
          <a:xfrm>
            <a:off x="6858000" y="822960"/>
            <a:ext cx="2057400" cy="640080"/>
          </a:xfrm>
          <a:prstGeom prst="rect">
            <a:avLst/>
          </a:prstGeom>
          <a:noFill/>
          <a:ln/>
        </p:spPr>
        <p:txBody>
          <a:bodyPr wrap="square" lIns="0" tIns="0" rIns="0" bIns="0" rtlCol="0" anchor="ctr"/>
          <a:lstStyle/>
          <a:p>
            <a:pPr indent="0" marL="0">
              <a:buNone/>
            </a:pPr>
            <a:r>
              <a:rPr lang="en-US" sz="1100" b="1" spc="100" kern="0" dirty="0">
                <a:solidFill>
                  <a:srgbClr val="FFFFFF"/>
                </a:solidFill>
              </a:rPr>
              <a:t>MODELLED ESTIMATE</a:t>
            </a:r>
            <a:endParaRPr lang="en-US" sz="1100" dirty="0"/>
          </a:p>
        </p:txBody>
      </p:sp>
      <p:pic>
        <p:nvPicPr>
          <p:cNvPr id="26" name="Image 2" descr="preencoded.png">    </p:cNvPr>
          <p:cNvPicPr>
            <a:picLocks noChangeAspect="1"/>
          </p:cNvPicPr>
          <p:nvPr/>
        </p:nvPicPr>
        <p:blipFill>
          <a:blip r:embed="rId3"/>
          <a:stretch>
            <a:fillRect/>
          </a:stretch>
        </p:blipFill>
        <p:spPr>
          <a:xfrm>
            <a:off x="7269480" y="1600200"/>
            <a:ext cx="640080" cy="640080"/>
          </a:xfrm>
          <a:prstGeom prst="rect">
            <a:avLst/>
          </a:prstGeom>
        </p:spPr>
      </p:pic>
      <p:sp>
        <p:nvSpPr>
          <p:cNvPr id="27" name="Text 22"/>
          <p:cNvSpPr/>
          <p:nvPr/>
        </p:nvSpPr>
        <p:spPr>
          <a:xfrm>
            <a:off x="6382512" y="2331720"/>
            <a:ext cx="2468880" cy="365760"/>
          </a:xfrm>
          <a:prstGeom prst="rect">
            <a:avLst/>
          </a:prstGeom>
          <a:noFill/>
          <a:ln/>
        </p:spPr>
        <p:txBody>
          <a:bodyPr wrap="square" lIns="0" tIns="0" rIns="0" bIns="0" rtlCol="0" anchor="ctr"/>
          <a:lstStyle/>
          <a:p>
            <a:pPr algn="ctr" indent="0" marL="0">
              <a:buNone/>
            </a:pPr>
            <a:r>
              <a:rPr lang="en-US" sz="1300" b="1" dirty="0">
                <a:solidFill>
                  <a:srgbClr val="0F172A"/>
                </a:solidFill>
              </a:rPr>
              <a:t>Scenarios + projections</a:t>
            </a:r>
            <a:endParaRPr lang="en-US" sz="1300" dirty="0"/>
          </a:p>
        </p:txBody>
      </p:sp>
      <p:sp>
        <p:nvSpPr>
          <p:cNvPr id="28" name="Text 23"/>
          <p:cNvSpPr/>
          <p:nvPr/>
        </p:nvSpPr>
        <p:spPr>
          <a:xfrm>
            <a:off x="6382512" y="2724912"/>
            <a:ext cx="2468880" cy="320040"/>
          </a:xfrm>
          <a:prstGeom prst="rect">
            <a:avLst/>
          </a:prstGeom>
          <a:noFill/>
          <a:ln/>
        </p:spPr>
        <p:txBody>
          <a:bodyPr wrap="square" lIns="0" tIns="0" rIns="0" bIns="0" rtlCol="0" anchor="ctr"/>
          <a:lstStyle/>
          <a:p>
            <a:pPr algn="ctr" indent="0" marL="0">
              <a:buNone/>
            </a:pPr>
            <a:r>
              <a:rPr lang="en-US" sz="1150" dirty="0">
                <a:solidFill>
                  <a:srgbClr val="64748B"/>
                </a:solidFill>
              </a:rPr>
              <a:t>Clearly labelled as estimate</a:t>
            </a:r>
            <a:endParaRPr lang="en-US" sz="1150" dirty="0"/>
          </a:p>
        </p:txBody>
      </p:sp>
      <p:sp>
        <p:nvSpPr>
          <p:cNvPr id="29" name="Shape 24"/>
          <p:cNvSpPr/>
          <p:nvPr/>
        </p:nvSpPr>
        <p:spPr>
          <a:xfrm>
            <a:off x="6382512" y="3200400"/>
            <a:ext cx="2468880" cy="777240"/>
          </a:xfrm>
          <a:prstGeom prst="rect">
            <a:avLst/>
          </a:prstGeom>
          <a:solidFill>
            <a:srgbClr val="FFFFFF"/>
          </a:solidFill>
          <a:ln w="12700">
            <a:solidFill>
              <a:srgbClr val="E8762B"/>
            </a:solidFill>
            <a:prstDash val="solid"/>
          </a:ln>
        </p:spPr>
      </p:sp>
      <p:sp>
        <p:nvSpPr>
          <p:cNvPr id="30" name="Text 25"/>
          <p:cNvSpPr/>
          <p:nvPr/>
        </p:nvSpPr>
        <p:spPr>
          <a:xfrm>
            <a:off x="6446520" y="3246120"/>
            <a:ext cx="2331720" cy="685800"/>
          </a:xfrm>
          <a:prstGeom prst="rect">
            <a:avLst/>
          </a:prstGeom>
          <a:noFill/>
          <a:ln/>
        </p:spPr>
        <p:txBody>
          <a:bodyPr wrap="square" lIns="0" tIns="0" rIns="0" bIns="0" rtlCol="0" anchor="ctr"/>
          <a:lstStyle/>
          <a:p>
            <a:pPr indent="0" marL="0">
              <a:spcAft>
                <a:spcPts val="200"/>
              </a:spcAft>
              <a:buNone/>
            </a:pPr>
            <a:r>
              <a:rPr lang="en-US" sz="1000" i="1" dirty="0">
                <a:solidFill>
                  <a:srgbClr val="334155"/>
                </a:solidFill>
              </a:rPr>
              <a:t>e.g. If reminders +20% → +$41K/month recovered</a:t>
            </a:r>
            <a:endParaRPr lang="en-US" sz="1000" dirty="0"/>
          </a:p>
        </p:txBody>
      </p:sp>
      <p:sp>
        <p:nvSpPr>
          <p:cNvPr id="31" name="Shape 26"/>
          <p:cNvSpPr/>
          <p:nvPr/>
        </p:nvSpPr>
        <p:spPr>
          <a:xfrm>
            <a:off x="2944368" y="2697480"/>
            <a:ext cx="292608" cy="91440"/>
          </a:xfrm>
          <a:prstGeom prst="rect">
            <a:avLst/>
          </a:prstGeom>
          <a:solidFill>
            <a:srgbClr val="64748B"/>
          </a:solidFill>
          <a:ln w="12700">
            <a:solidFill>
              <a:srgbClr val="64748B"/>
            </a:solidFill>
            <a:prstDash val="solid"/>
          </a:ln>
        </p:spPr>
      </p:sp>
      <p:sp>
        <p:nvSpPr>
          <p:cNvPr id="32" name="Text 27"/>
          <p:cNvSpPr/>
          <p:nvPr/>
        </p:nvSpPr>
        <p:spPr>
          <a:xfrm>
            <a:off x="2944368" y="2606040"/>
            <a:ext cx="292608" cy="256032"/>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33" name="Shape 28"/>
          <p:cNvSpPr/>
          <p:nvPr/>
        </p:nvSpPr>
        <p:spPr>
          <a:xfrm>
            <a:off x="5916168" y="2697480"/>
            <a:ext cx="292608" cy="91440"/>
          </a:xfrm>
          <a:prstGeom prst="rect">
            <a:avLst/>
          </a:prstGeom>
          <a:solidFill>
            <a:srgbClr val="64748B"/>
          </a:solidFill>
          <a:ln w="12700">
            <a:solidFill>
              <a:srgbClr val="64748B"/>
            </a:solidFill>
            <a:prstDash val="solid"/>
          </a:ln>
        </p:spPr>
      </p:sp>
      <p:sp>
        <p:nvSpPr>
          <p:cNvPr id="34" name="Text 29"/>
          <p:cNvSpPr/>
          <p:nvPr/>
        </p:nvSpPr>
        <p:spPr>
          <a:xfrm>
            <a:off x="5916168" y="2606040"/>
            <a:ext cx="292608" cy="256032"/>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35" name="Text 30"/>
          <p:cNvSpPr/>
          <p:nvPr/>
        </p:nvSpPr>
        <p:spPr>
          <a:xfrm>
            <a:off x="914400" y="4645152"/>
            <a:ext cx="7315200" cy="256032"/>
          </a:xfrm>
          <a:prstGeom prst="rect">
            <a:avLst/>
          </a:prstGeom>
          <a:noFill/>
          <a:ln/>
        </p:spPr>
        <p:txBody>
          <a:bodyPr wrap="square" lIns="0" tIns="0" rIns="0" bIns="0" rtlCol="0" anchor="ctr"/>
          <a:lstStyle/>
          <a:p>
            <a:pPr algn="ctr" indent="0" marL="0">
              <a:buNone/>
            </a:pPr>
            <a:r>
              <a:rPr lang="en-US" sz="1050" i="1" dirty="0">
                <a:solidFill>
                  <a:srgbClr val="64748B"/>
                </a:solidFill>
              </a:rPr>
              <a:t>Every dashboard element is labelled with its layer. No ambiguity.</a:t>
            </a:r>
            <a:endParaRPr lang="en-US" sz="1050" dirty="0"/>
          </a:p>
        </p:txBody>
      </p:sp>
      <p:sp>
        <p:nvSpPr>
          <p:cNvPr id="36" name="Shape 31"/>
          <p:cNvSpPr/>
          <p:nvPr/>
        </p:nvSpPr>
        <p:spPr>
          <a:xfrm>
            <a:off x="0" y="4937760"/>
            <a:ext cx="9144000" cy="205740"/>
          </a:xfrm>
          <a:prstGeom prst="rect">
            <a:avLst/>
          </a:prstGeom>
          <a:solidFill>
            <a:srgbClr val="0A5470"/>
          </a:solidFill>
          <a:ln w="12700">
            <a:solidFill>
              <a:srgbClr val="0A5470"/>
            </a:solidFill>
            <a:prstDash val="solid"/>
          </a:ln>
        </p:spPr>
      </p:sp>
      <p:sp>
        <p:nvSpPr>
          <p:cNvPr id="37" name="Text 32"/>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4 / 11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400" b="1" dirty="0">
                <a:solidFill>
                  <a:srgbClr val="0A5470"/>
                </a:solidFill>
                <a:latin typeface="Calibri Light" pitchFamily="34" charset="0"/>
                <a:ea typeface="Calibri Light" pitchFamily="34" charset="-122"/>
                <a:cs typeface="Calibri Light" pitchFamily="34" charset="-120"/>
              </a:rPr>
              <a:t>Your Operations at a Glance — One Screen</a:t>
            </a:r>
            <a:endParaRPr lang="en-US" sz="2400" dirty="0"/>
          </a:p>
        </p:txBody>
      </p:sp>
      <p:sp>
        <p:nvSpPr>
          <p:cNvPr id="4" name="Shape 2"/>
          <p:cNvSpPr/>
          <p:nvPr/>
        </p:nvSpPr>
        <p:spPr>
          <a:xfrm>
            <a:off x="182880" y="749808"/>
            <a:ext cx="2057400" cy="1234440"/>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182880" y="749808"/>
            <a:ext cx="2057400" cy="64008"/>
          </a:xfrm>
          <a:prstGeom prst="rect">
            <a:avLst/>
          </a:prstGeom>
          <a:solidFill>
            <a:srgbClr val="0D6B8A"/>
          </a:solidFill>
          <a:ln w="12700">
            <a:solidFill>
              <a:srgbClr val="0D6B8A"/>
            </a:solidFill>
            <a:prstDash val="solid"/>
          </a:ln>
        </p:spPr>
      </p:sp>
      <p:sp>
        <p:nvSpPr>
          <p:cNvPr id="6" name="Text 4"/>
          <p:cNvSpPr/>
          <p:nvPr/>
        </p:nvSpPr>
        <p:spPr>
          <a:xfrm>
            <a:off x="274320" y="841248"/>
            <a:ext cx="1874520" cy="228600"/>
          </a:xfrm>
          <a:prstGeom prst="rect">
            <a:avLst/>
          </a:prstGeom>
          <a:noFill/>
          <a:ln/>
        </p:spPr>
        <p:txBody>
          <a:bodyPr wrap="square" lIns="0" tIns="0" rIns="0" bIns="0" rtlCol="0" anchor="ctr"/>
          <a:lstStyle/>
          <a:p>
            <a:pPr indent="0" marL="0">
              <a:buNone/>
            </a:pPr>
            <a:r>
              <a:rPr lang="en-US" sz="850" b="1" spc="100" kern="0" dirty="0">
                <a:solidFill>
                  <a:srgbClr val="0D6B8A"/>
                </a:solidFill>
              </a:rPr>
              <a:t>NO-SHOW RATE</a:t>
            </a:r>
            <a:endParaRPr lang="en-US" sz="850" dirty="0"/>
          </a:p>
        </p:txBody>
      </p:sp>
      <p:sp>
        <p:nvSpPr>
          <p:cNvPr id="7" name="Text 5"/>
          <p:cNvSpPr/>
          <p:nvPr/>
        </p:nvSpPr>
        <p:spPr>
          <a:xfrm>
            <a:off x="274320" y="1069848"/>
            <a:ext cx="1874520" cy="548640"/>
          </a:xfrm>
          <a:prstGeom prst="rect">
            <a:avLst/>
          </a:prstGeom>
          <a:noFill/>
          <a:ln/>
        </p:spPr>
        <p:txBody>
          <a:bodyPr wrap="square" lIns="0" tIns="0" rIns="0" bIns="0" rtlCol="0" anchor="ctr"/>
          <a:lstStyle/>
          <a:p>
            <a:pPr indent="0" marL="0">
              <a:buNone/>
            </a:pPr>
            <a:r>
              <a:rPr lang="en-US" sz="3200" b="1" dirty="0">
                <a:solidFill>
                  <a:srgbClr val="0F172A"/>
                </a:solidFill>
              </a:rPr>
              <a:t>27.1%</a:t>
            </a:r>
            <a:endParaRPr lang="en-US" sz="3200" dirty="0"/>
          </a:p>
        </p:txBody>
      </p:sp>
      <p:sp>
        <p:nvSpPr>
          <p:cNvPr id="8" name="Text 6"/>
          <p:cNvSpPr/>
          <p:nvPr/>
        </p:nvSpPr>
        <p:spPr>
          <a:xfrm>
            <a:off x="274320" y="1664208"/>
            <a:ext cx="1874520" cy="228600"/>
          </a:xfrm>
          <a:prstGeom prst="rect">
            <a:avLst/>
          </a:prstGeom>
          <a:noFill/>
          <a:ln/>
        </p:spPr>
        <p:txBody>
          <a:bodyPr wrap="square" lIns="0" tIns="0" rIns="0" bIns="0" rtlCol="0" anchor="ctr"/>
          <a:lstStyle/>
          <a:p>
            <a:pPr indent="0" marL="0">
              <a:buNone/>
            </a:pPr>
            <a:r>
              <a:rPr lang="en-US" sz="900" i="1" dirty="0">
                <a:solidFill>
                  <a:srgbClr val="DC2626"/>
                </a:solidFill>
              </a:rPr>
              <a:t>↑ 2.1pp vs last month</a:t>
            </a:r>
            <a:endParaRPr lang="en-US" sz="900" dirty="0"/>
          </a:p>
        </p:txBody>
      </p:sp>
      <p:sp>
        <p:nvSpPr>
          <p:cNvPr id="9" name="Shape 7"/>
          <p:cNvSpPr/>
          <p:nvPr/>
        </p:nvSpPr>
        <p:spPr>
          <a:xfrm>
            <a:off x="2423160" y="749808"/>
            <a:ext cx="2057400" cy="1234440"/>
          </a:xfrm>
          <a:prstGeom prst="rect">
            <a:avLst/>
          </a:prstGeom>
          <a:solidFill>
            <a:srgbClr val="FFF0E6"/>
          </a:solidFill>
          <a:ln w="19050">
            <a:solidFill>
              <a:srgbClr val="E8762B"/>
            </a:solidFill>
            <a:prstDash val="solid"/>
          </a:ln>
          <a:effectLst>
            <a:outerShdw sx="100000" sy="100000" kx="0" ky="0" algn="bl" rotWithShape="0" blurRad="76200" dist="25400" dir="8100000">
              <a:srgbClr val="000000">
                <a:alpha val="8000"/>
              </a:srgbClr>
            </a:outerShdw>
          </a:effectLst>
        </p:spPr>
      </p:sp>
      <p:sp>
        <p:nvSpPr>
          <p:cNvPr id="10" name="Shape 8"/>
          <p:cNvSpPr/>
          <p:nvPr/>
        </p:nvSpPr>
        <p:spPr>
          <a:xfrm>
            <a:off x="2423160" y="749808"/>
            <a:ext cx="2057400" cy="64008"/>
          </a:xfrm>
          <a:prstGeom prst="rect">
            <a:avLst/>
          </a:prstGeom>
          <a:solidFill>
            <a:srgbClr val="E8762B"/>
          </a:solidFill>
          <a:ln w="12700">
            <a:solidFill>
              <a:srgbClr val="E8762B"/>
            </a:solidFill>
            <a:prstDash val="solid"/>
          </a:ln>
        </p:spPr>
      </p:sp>
      <p:sp>
        <p:nvSpPr>
          <p:cNvPr id="11" name="Text 9"/>
          <p:cNvSpPr/>
          <p:nvPr/>
        </p:nvSpPr>
        <p:spPr>
          <a:xfrm>
            <a:off x="2514600" y="841248"/>
            <a:ext cx="1874520" cy="228600"/>
          </a:xfrm>
          <a:prstGeom prst="rect">
            <a:avLst/>
          </a:prstGeom>
          <a:noFill/>
          <a:ln/>
        </p:spPr>
        <p:txBody>
          <a:bodyPr wrap="square" lIns="0" tIns="0" rIns="0" bIns="0" rtlCol="0" anchor="ctr"/>
          <a:lstStyle/>
          <a:p>
            <a:pPr indent="0" marL="0">
              <a:buNone/>
            </a:pPr>
            <a:r>
              <a:rPr lang="en-US" sz="850" b="1" spc="100" kern="0" dirty="0">
                <a:solidFill>
                  <a:srgbClr val="E8762B"/>
                </a:solidFill>
              </a:rPr>
              <a:t>AVG WAIT TIME</a:t>
            </a:r>
            <a:endParaRPr lang="en-US" sz="850" dirty="0"/>
          </a:p>
        </p:txBody>
      </p:sp>
      <p:sp>
        <p:nvSpPr>
          <p:cNvPr id="12" name="Text 10"/>
          <p:cNvSpPr/>
          <p:nvPr/>
        </p:nvSpPr>
        <p:spPr>
          <a:xfrm>
            <a:off x="2514600" y="1069848"/>
            <a:ext cx="1874520" cy="548640"/>
          </a:xfrm>
          <a:prstGeom prst="rect">
            <a:avLst/>
          </a:prstGeom>
          <a:noFill/>
          <a:ln/>
        </p:spPr>
        <p:txBody>
          <a:bodyPr wrap="square" lIns="0" tIns="0" rIns="0" bIns="0" rtlCol="0" anchor="ctr"/>
          <a:lstStyle/>
          <a:p>
            <a:pPr indent="0" marL="0">
              <a:buNone/>
            </a:pPr>
            <a:r>
              <a:rPr lang="en-US" sz="3200" b="1" dirty="0">
                <a:solidFill>
                  <a:srgbClr val="0F172A"/>
                </a:solidFill>
              </a:rPr>
              <a:t>18 min</a:t>
            </a:r>
            <a:endParaRPr lang="en-US" sz="3200" dirty="0"/>
          </a:p>
        </p:txBody>
      </p:sp>
      <p:sp>
        <p:nvSpPr>
          <p:cNvPr id="13" name="Text 11"/>
          <p:cNvSpPr/>
          <p:nvPr/>
        </p:nvSpPr>
        <p:spPr>
          <a:xfrm>
            <a:off x="2514600" y="1664208"/>
            <a:ext cx="1874520" cy="228600"/>
          </a:xfrm>
          <a:prstGeom prst="rect">
            <a:avLst/>
          </a:prstGeom>
          <a:noFill/>
          <a:ln/>
        </p:spPr>
        <p:txBody>
          <a:bodyPr wrap="square" lIns="0" tIns="0" rIns="0" bIns="0" rtlCol="0" anchor="ctr"/>
          <a:lstStyle/>
          <a:p>
            <a:pPr indent="0" marL="0">
              <a:buNone/>
            </a:pPr>
            <a:r>
              <a:rPr lang="en-US" sz="900" i="1" dirty="0">
                <a:solidFill>
                  <a:srgbClr val="DC2626"/>
                </a:solidFill>
              </a:rPr>
              <a:t>↑ 3 min vs target</a:t>
            </a:r>
            <a:endParaRPr lang="en-US" sz="900" dirty="0"/>
          </a:p>
        </p:txBody>
      </p:sp>
      <p:sp>
        <p:nvSpPr>
          <p:cNvPr id="14" name="Shape 12"/>
          <p:cNvSpPr/>
          <p:nvPr/>
        </p:nvSpPr>
        <p:spPr>
          <a:xfrm>
            <a:off x="4663440" y="749808"/>
            <a:ext cx="2057400" cy="1234440"/>
          </a:xfrm>
          <a:prstGeom prst="rect">
            <a:avLst/>
          </a:prstGeom>
          <a:solidFill>
            <a:srgbClr val="EFF6FF"/>
          </a:solidFill>
          <a:ln w="19050">
            <a:solidFill>
              <a:srgbClr val="1D4ED8"/>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4663440" y="749808"/>
            <a:ext cx="2057400" cy="64008"/>
          </a:xfrm>
          <a:prstGeom prst="rect">
            <a:avLst/>
          </a:prstGeom>
          <a:solidFill>
            <a:srgbClr val="1D4ED8"/>
          </a:solidFill>
          <a:ln w="12700">
            <a:solidFill>
              <a:srgbClr val="1D4ED8"/>
            </a:solidFill>
            <a:prstDash val="solid"/>
          </a:ln>
        </p:spPr>
      </p:sp>
      <p:sp>
        <p:nvSpPr>
          <p:cNvPr id="16" name="Text 14"/>
          <p:cNvSpPr/>
          <p:nvPr/>
        </p:nvSpPr>
        <p:spPr>
          <a:xfrm>
            <a:off x="4754880" y="841248"/>
            <a:ext cx="1874520" cy="228600"/>
          </a:xfrm>
          <a:prstGeom prst="rect">
            <a:avLst/>
          </a:prstGeom>
          <a:noFill/>
          <a:ln/>
        </p:spPr>
        <p:txBody>
          <a:bodyPr wrap="square" lIns="0" tIns="0" rIns="0" bIns="0" rtlCol="0" anchor="ctr"/>
          <a:lstStyle/>
          <a:p>
            <a:pPr indent="0" marL="0">
              <a:buNone/>
            </a:pPr>
            <a:r>
              <a:rPr lang="en-US" sz="850" b="1" spc="100" kern="0" dirty="0">
                <a:solidFill>
                  <a:srgbClr val="1D4ED8"/>
                </a:solidFill>
              </a:rPr>
              <a:t>REMINDER COVERAGE</a:t>
            </a:r>
            <a:endParaRPr lang="en-US" sz="850" dirty="0"/>
          </a:p>
        </p:txBody>
      </p:sp>
      <p:sp>
        <p:nvSpPr>
          <p:cNvPr id="17" name="Text 15"/>
          <p:cNvSpPr/>
          <p:nvPr/>
        </p:nvSpPr>
        <p:spPr>
          <a:xfrm>
            <a:off x="4754880" y="1069848"/>
            <a:ext cx="1874520" cy="548640"/>
          </a:xfrm>
          <a:prstGeom prst="rect">
            <a:avLst/>
          </a:prstGeom>
          <a:noFill/>
          <a:ln/>
        </p:spPr>
        <p:txBody>
          <a:bodyPr wrap="square" lIns="0" tIns="0" rIns="0" bIns="0" rtlCol="0" anchor="ctr"/>
          <a:lstStyle/>
          <a:p>
            <a:pPr indent="0" marL="0">
              <a:buNone/>
            </a:pPr>
            <a:r>
              <a:rPr lang="en-US" sz="3200" b="1" dirty="0">
                <a:solidFill>
                  <a:srgbClr val="0F172A"/>
                </a:solidFill>
              </a:rPr>
              <a:t>61%</a:t>
            </a:r>
            <a:endParaRPr lang="en-US" sz="3200" dirty="0"/>
          </a:p>
        </p:txBody>
      </p:sp>
      <p:sp>
        <p:nvSpPr>
          <p:cNvPr id="18" name="Text 16"/>
          <p:cNvSpPr/>
          <p:nvPr/>
        </p:nvSpPr>
        <p:spPr>
          <a:xfrm>
            <a:off x="4754880" y="1664208"/>
            <a:ext cx="1874520" cy="228600"/>
          </a:xfrm>
          <a:prstGeom prst="rect">
            <a:avLst/>
          </a:prstGeom>
          <a:noFill/>
          <a:ln/>
        </p:spPr>
        <p:txBody>
          <a:bodyPr wrap="square" lIns="0" tIns="0" rIns="0" bIns="0" rtlCol="0" anchor="ctr"/>
          <a:lstStyle/>
          <a:p>
            <a:pPr indent="0" marL="0">
              <a:buNone/>
            </a:pPr>
            <a:r>
              <a:rPr lang="en-US" sz="900" i="1" dirty="0">
                <a:solidFill>
                  <a:srgbClr val="E8762B"/>
                </a:solidFill>
              </a:rPr>
              <a:t>↓ Target: 80%</a:t>
            </a:r>
            <a:endParaRPr lang="en-US" sz="900" dirty="0"/>
          </a:p>
        </p:txBody>
      </p:sp>
      <p:sp>
        <p:nvSpPr>
          <p:cNvPr id="19" name="Shape 17"/>
          <p:cNvSpPr/>
          <p:nvPr/>
        </p:nvSpPr>
        <p:spPr>
          <a:xfrm>
            <a:off x="6903720" y="749808"/>
            <a:ext cx="2057400" cy="1234440"/>
          </a:xfrm>
          <a:prstGeom prst="rect">
            <a:avLst/>
          </a:prstGeom>
          <a:solidFill>
            <a:srgbClr val="F0FDF4"/>
          </a:solidFill>
          <a:ln w="19050">
            <a:solidFill>
              <a:srgbClr val="16A34A"/>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6903720" y="749808"/>
            <a:ext cx="2057400" cy="64008"/>
          </a:xfrm>
          <a:prstGeom prst="rect">
            <a:avLst/>
          </a:prstGeom>
          <a:solidFill>
            <a:srgbClr val="16A34A"/>
          </a:solidFill>
          <a:ln w="12700">
            <a:solidFill>
              <a:srgbClr val="16A34A"/>
            </a:solidFill>
            <a:prstDash val="solid"/>
          </a:ln>
        </p:spPr>
      </p:sp>
      <p:sp>
        <p:nvSpPr>
          <p:cNvPr id="21" name="Text 19"/>
          <p:cNvSpPr/>
          <p:nvPr/>
        </p:nvSpPr>
        <p:spPr>
          <a:xfrm>
            <a:off x="6995160" y="841248"/>
            <a:ext cx="1874520" cy="228600"/>
          </a:xfrm>
          <a:prstGeom prst="rect">
            <a:avLst/>
          </a:prstGeom>
          <a:noFill/>
          <a:ln/>
        </p:spPr>
        <p:txBody>
          <a:bodyPr wrap="square" lIns="0" tIns="0" rIns="0" bIns="0" rtlCol="0" anchor="ctr"/>
          <a:lstStyle/>
          <a:p>
            <a:pPr indent="0" marL="0">
              <a:buNone/>
            </a:pPr>
            <a:r>
              <a:rPr lang="en-US" sz="850" b="1" spc="100" kern="0" dirty="0">
                <a:solidFill>
                  <a:srgbClr val="16A34A"/>
                </a:solidFill>
              </a:rPr>
              <a:t>PROVIDER UTILISATION</a:t>
            </a:r>
            <a:endParaRPr lang="en-US" sz="850" dirty="0"/>
          </a:p>
        </p:txBody>
      </p:sp>
      <p:sp>
        <p:nvSpPr>
          <p:cNvPr id="22" name="Text 20"/>
          <p:cNvSpPr/>
          <p:nvPr/>
        </p:nvSpPr>
        <p:spPr>
          <a:xfrm>
            <a:off x="6995160" y="1069848"/>
            <a:ext cx="1874520" cy="548640"/>
          </a:xfrm>
          <a:prstGeom prst="rect">
            <a:avLst/>
          </a:prstGeom>
          <a:noFill/>
          <a:ln/>
        </p:spPr>
        <p:txBody>
          <a:bodyPr wrap="square" lIns="0" tIns="0" rIns="0" bIns="0" rtlCol="0" anchor="ctr"/>
          <a:lstStyle/>
          <a:p>
            <a:pPr indent="0" marL="0">
              <a:buNone/>
            </a:pPr>
            <a:r>
              <a:rPr lang="en-US" sz="3200" b="1" dirty="0">
                <a:solidFill>
                  <a:srgbClr val="0F172A"/>
                </a:solidFill>
              </a:rPr>
              <a:t>78%</a:t>
            </a:r>
            <a:endParaRPr lang="en-US" sz="3200" dirty="0"/>
          </a:p>
        </p:txBody>
      </p:sp>
      <p:sp>
        <p:nvSpPr>
          <p:cNvPr id="23" name="Text 21"/>
          <p:cNvSpPr/>
          <p:nvPr/>
        </p:nvSpPr>
        <p:spPr>
          <a:xfrm>
            <a:off x="6995160" y="1664208"/>
            <a:ext cx="1874520" cy="228600"/>
          </a:xfrm>
          <a:prstGeom prst="rect">
            <a:avLst/>
          </a:prstGeom>
          <a:noFill/>
          <a:ln/>
        </p:spPr>
        <p:txBody>
          <a:bodyPr wrap="square" lIns="0" tIns="0" rIns="0" bIns="0" rtlCol="0" anchor="ctr"/>
          <a:lstStyle/>
          <a:p>
            <a:pPr indent="0" marL="0">
              <a:buNone/>
            </a:pPr>
            <a:r>
              <a:rPr lang="en-US" sz="900" i="1" dirty="0">
                <a:solidFill>
                  <a:srgbClr val="64748B"/>
                </a:solidFill>
              </a:rPr>
              <a:t>3 overloaded, 4 underused</a:t>
            </a:r>
            <a:endParaRPr lang="en-US" sz="900" dirty="0"/>
          </a:p>
        </p:txBody>
      </p:sp>
      <p:graphicFrame>
        <p:nvGraphicFramePr>
          <p:cNvPr id="24" name="Chart 0" descr=""/>
          <p:cNvGraphicFramePr/>
          <p:nvPr/>
        </p:nvGraphicFramePr>
        <p:xfrm>
          <a:off x="182880" y="2148840"/>
          <a:ext cx="429768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Chart 1" descr=""/>
          <p:cNvGraphicFramePr/>
          <p:nvPr/>
        </p:nvGraphicFramePr>
        <p:xfrm>
          <a:off x="4754880" y="2148840"/>
          <a:ext cx="4206240" cy="2606040"/>
        </p:xfrm>
        <a:graphic xmlns:a="http://schemas.openxmlformats.org/drawingml/2006/main">
          <a:graphicData uri="http://schemas.openxmlformats.org/drawingml/2006/chart">
            <c:chart xmlns:c="http://schemas.openxmlformats.org/drawingml/2006/chart" r:id="rId2"/>
          </a:graphicData>
        </a:graphic>
      </p:graphicFrame>
      <p:sp>
        <p:nvSpPr>
          <p:cNvPr id="26" name="Shape 22"/>
          <p:cNvSpPr/>
          <p:nvPr/>
        </p:nvSpPr>
        <p:spPr>
          <a:xfrm>
            <a:off x="0" y="4937760"/>
            <a:ext cx="9144000" cy="205740"/>
          </a:xfrm>
          <a:prstGeom prst="rect">
            <a:avLst/>
          </a:prstGeom>
          <a:solidFill>
            <a:srgbClr val="0A5470"/>
          </a:solidFill>
          <a:ln w="12700">
            <a:solidFill>
              <a:srgbClr val="0A5470"/>
            </a:solidFill>
            <a:prstDash val="solid"/>
          </a:ln>
        </p:spPr>
      </p:sp>
      <p:sp>
        <p:nvSpPr>
          <p:cNvPr id="27" name="Text 23"/>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5 / 11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A5470"/>
                </a:solidFill>
                <a:latin typeface="Calibri Light" pitchFamily="34" charset="0"/>
                <a:ea typeface="Calibri Light" pitchFamily="34" charset="-122"/>
                <a:cs typeface="Calibri Light" pitchFamily="34" charset="-120"/>
              </a:rPr>
              <a:t>AI That Shows Its Working</a:t>
            </a:r>
            <a:endParaRPr lang="en-US" sz="28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indent="0" marL="0">
              <a:buNone/>
            </a:pPr>
            <a:r>
              <a:rPr lang="en-US" sz="1200" i="1" dirty="0">
                <a:solidFill>
                  <a:srgbClr val="64748B"/>
                </a:solidFill>
              </a:rPr>
              <a:t>A real output from the AI insight engine, with full reasoning visible:</a:t>
            </a:r>
            <a:endParaRPr lang="en-US" sz="1200" dirty="0"/>
          </a:p>
        </p:txBody>
      </p:sp>
      <p:sp>
        <p:nvSpPr>
          <p:cNvPr id="5" name="Shape 3"/>
          <p:cNvSpPr/>
          <p:nvPr/>
        </p:nvSpPr>
        <p:spPr>
          <a:xfrm>
            <a:off x="457200" y="1005840"/>
            <a:ext cx="8229600" cy="3566160"/>
          </a:xfrm>
          <a:prstGeom prst="rect">
            <a:avLst/>
          </a:prstGeom>
          <a:solidFill>
            <a:srgbClr val="FAFAFA"/>
          </a:solidFill>
          <a:ln w="12700">
            <a:solidFill>
              <a:srgbClr val="CBD5E1"/>
            </a:solidFill>
            <a:prstDash val="solid"/>
          </a:ln>
          <a:effectLst>
            <a:outerShdw sx="100000" sy="100000" kx="0" ky="0" algn="bl" rotWithShape="0" blurRad="101600" dist="38100" dir="8100000">
              <a:srgbClr val="000000">
                <a:alpha val="10000"/>
              </a:srgbClr>
            </a:outerShdw>
          </a:effectLst>
        </p:spPr>
      </p:sp>
      <p:sp>
        <p:nvSpPr>
          <p:cNvPr id="6" name="Shape 4"/>
          <p:cNvSpPr/>
          <p:nvPr/>
        </p:nvSpPr>
        <p:spPr>
          <a:xfrm>
            <a:off x="457200" y="1005840"/>
            <a:ext cx="91440" cy="3566160"/>
          </a:xfrm>
          <a:prstGeom prst="rect">
            <a:avLst/>
          </a:prstGeom>
          <a:solidFill>
            <a:srgbClr val="DC2626"/>
          </a:solidFill>
          <a:ln w="12700">
            <a:solidFill>
              <a:srgbClr val="DC2626"/>
            </a:solidFill>
            <a:prstDash val="solid"/>
          </a:ln>
        </p:spPr>
      </p:sp>
      <p:sp>
        <p:nvSpPr>
          <p:cNvPr id="7" name="Shape 5"/>
          <p:cNvSpPr/>
          <p:nvPr/>
        </p:nvSpPr>
        <p:spPr>
          <a:xfrm>
            <a:off x="685800" y="1078992"/>
            <a:ext cx="1188720" cy="274320"/>
          </a:xfrm>
          <a:prstGeom prst="rect">
            <a:avLst/>
          </a:prstGeom>
          <a:solidFill>
            <a:srgbClr val="DC2626"/>
          </a:solidFill>
          <a:ln w="12700">
            <a:solidFill>
              <a:srgbClr val="DC2626"/>
            </a:solidFill>
            <a:prstDash val="solid"/>
          </a:ln>
        </p:spPr>
      </p:sp>
      <p:sp>
        <p:nvSpPr>
          <p:cNvPr id="8" name="Text 6"/>
          <p:cNvSpPr/>
          <p:nvPr/>
        </p:nvSpPr>
        <p:spPr>
          <a:xfrm>
            <a:off x="685800" y="1078992"/>
            <a:ext cx="1188720" cy="274320"/>
          </a:xfrm>
          <a:prstGeom prst="rect">
            <a:avLst/>
          </a:prstGeom>
          <a:noFill/>
          <a:ln/>
        </p:spPr>
        <p:txBody>
          <a:bodyPr wrap="square" lIns="0" tIns="0" rIns="0" bIns="0" rtlCol="0" anchor="ctr"/>
          <a:lstStyle/>
          <a:p>
            <a:pPr algn="ctr" indent="0" marL="0">
              <a:buNone/>
            </a:pPr>
            <a:r>
              <a:rPr lang="en-US" sz="800" b="1" dirty="0">
                <a:solidFill>
                  <a:srgbClr val="FFFFFF"/>
                </a:solidFill>
              </a:rPr>
              <a:t>🔴 HIGH PRIORITY</a:t>
            </a:r>
            <a:endParaRPr lang="en-US" sz="800" dirty="0"/>
          </a:p>
        </p:txBody>
      </p:sp>
      <p:sp>
        <p:nvSpPr>
          <p:cNvPr id="9" name="Text 7"/>
          <p:cNvSpPr/>
          <p:nvPr/>
        </p:nvSpPr>
        <p:spPr>
          <a:xfrm>
            <a:off x="685800" y="1417320"/>
            <a:ext cx="7772400" cy="411480"/>
          </a:xfrm>
          <a:prstGeom prst="rect">
            <a:avLst/>
          </a:prstGeom>
          <a:noFill/>
          <a:ln/>
        </p:spPr>
        <p:txBody>
          <a:bodyPr wrap="square" lIns="0" tIns="0" rIns="0" bIns="0" rtlCol="0" anchor="ctr"/>
          <a:lstStyle/>
          <a:p>
            <a:pPr indent="0" marL="0">
              <a:buNone/>
            </a:pPr>
            <a:r>
              <a:rPr lang="en-US" sz="1800" b="1" dirty="0">
                <a:solidFill>
                  <a:srgbClr val="0F172A"/>
                </a:solidFill>
              </a:rPr>
              <a:t>Monday Behavioral Health — 41% No-Show Rate</a:t>
            </a:r>
            <a:endParaRPr lang="en-US" sz="1800" dirty="0"/>
          </a:p>
        </p:txBody>
      </p:sp>
      <p:sp>
        <p:nvSpPr>
          <p:cNvPr id="10" name="Shape 8"/>
          <p:cNvSpPr/>
          <p:nvPr/>
        </p:nvSpPr>
        <p:spPr>
          <a:xfrm>
            <a:off x="658368" y="1938528"/>
            <a:ext cx="7818120" cy="530352"/>
          </a:xfrm>
          <a:prstGeom prst="rect">
            <a:avLst/>
          </a:prstGeom>
          <a:solidFill>
            <a:srgbClr val="F8FAFC"/>
          </a:solidFill>
          <a:ln w="12700">
            <a:solidFill>
              <a:srgbClr val="F1F5F9"/>
            </a:solidFill>
            <a:prstDash val="solid"/>
          </a:ln>
        </p:spPr>
      </p:sp>
      <p:pic>
        <p:nvPicPr>
          <p:cNvPr id="11" name="Image 0" descr="preencoded.png">    </p:cNvPr>
          <p:cNvPicPr>
            <a:picLocks noChangeAspect="1"/>
          </p:cNvPicPr>
          <p:nvPr/>
        </p:nvPicPr>
        <p:blipFill>
          <a:blip r:embed="rId1"/>
          <a:stretch>
            <a:fillRect/>
          </a:stretch>
        </p:blipFill>
        <p:spPr>
          <a:xfrm>
            <a:off x="731520" y="2057400"/>
            <a:ext cx="256032" cy="256032"/>
          </a:xfrm>
          <a:prstGeom prst="rect">
            <a:avLst/>
          </a:prstGeom>
        </p:spPr>
      </p:pic>
      <p:sp>
        <p:nvSpPr>
          <p:cNvPr id="12" name="Text 9"/>
          <p:cNvSpPr/>
          <p:nvPr/>
        </p:nvSpPr>
        <p:spPr>
          <a:xfrm>
            <a:off x="1051560" y="2011680"/>
            <a:ext cx="1280160" cy="256032"/>
          </a:xfrm>
          <a:prstGeom prst="rect">
            <a:avLst/>
          </a:prstGeom>
          <a:noFill/>
          <a:ln/>
        </p:spPr>
        <p:txBody>
          <a:bodyPr wrap="square" lIns="0" tIns="0" rIns="0" bIns="0" rtlCol="0" anchor="ctr"/>
          <a:lstStyle/>
          <a:p>
            <a:pPr indent="0" marL="0">
              <a:buNone/>
            </a:pPr>
            <a:r>
              <a:rPr lang="en-US" sz="1000" b="1" dirty="0">
                <a:solidFill>
                  <a:srgbClr val="334155"/>
                </a:solidFill>
              </a:rPr>
              <a:t>Evidence:</a:t>
            </a:r>
            <a:endParaRPr lang="en-US" sz="1000" dirty="0"/>
          </a:p>
        </p:txBody>
      </p:sp>
      <p:sp>
        <p:nvSpPr>
          <p:cNvPr id="13" name="Text 10"/>
          <p:cNvSpPr/>
          <p:nvPr/>
        </p:nvSpPr>
        <p:spPr>
          <a:xfrm>
            <a:off x="2331720" y="1993392"/>
            <a:ext cx="6035040" cy="420624"/>
          </a:xfrm>
          <a:prstGeom prst="rect">
            <a:avLst/>
          </a:prstGeom>
          <a:noFill/>
          <a:ln/>
        </p:spPr>
        <p:txBody>
          <a:bodyPr wrap="square" lIns="0" tIns="0" rIns="0" bIns="0" rtlCol="0" anchor="ctr"/>
          <a:lstStyle/>
          <a:p>
            <a:pPr indent="0" marL="0">
              <a:spcAft>
                <a:spcPts val="200"/>
              </a:spcAft>
              <a:buNone/>
            </a:pPr>
            <a:r>
              <a:rPr lang="en-US" sz="1100" dirty="0">
                <a:solidFill>
                  <a:srgbClr val="0F172A"/>
                </a:solidFill>
              </a:rPr>
              <a:t>847 appointments analysed  •  Consistent across 12+ weeks  •  14pp above clinic average</a:t>
            </a:r>
            <a:endParaRPr lang="en-US" sz="1100" dirty="0"/>
          </a:p>
        </p:txBody>
      </p:sp>
      <p:sp>
        <p:nvSpPr>
          <p:cNvPr id="14" name="Shape 11"/>
          <p:cNvSpPr/>
          <p:nvPr/>
        </p:nvSpPr>
        <p:spPr>
          <a:xfrm>
            <a:off x="658368" y="2542032"/>
            <a:ext cx="7818120" cy="530352"/>
          </a:xfrm>
          <a:prstGeom prst="rect">
            <a:avLst/>
          </a:prstGeom>
          <a:solidFill>
            <a:srgbClr val="FFFFFF"/>
          </a:solidFill>
          <a:ln w="12700">
            <a:solidFill>
              <a:srgbClr val="F1F5F9"/>
            </a:solidFill>
            <a:prstDash val="solid"/>
          </a:ln>
        </p:spPr>
      </p:sp>
      <p:pic>
        <p:nvPicPr>
          <p:cNvPr id="15" name="Image 1" descr="preencoded.png">    </p:cNvPr>
          <p:cNvPicPr>
            <a:picLocks noChangeAspect="1"/>
          </p:cNvPicPr>
          <p:nvPr/>
        </p:nvPicPr>
        <p:blipFill>
          <a:blip r:embed="rId2"/>
          <a:stretch>
            <a:fillRect/>
          </a:stretch>
        </p:blipFill>
        <p:spPr>
          <a:xfrm>
            <a:off x="731520" y="2660904"/>
            <a:ext cx="256032" cy="256032"/>
          </a:xfrm>
          <a:prstGeom prst="rect">
            <a:avLst/>
          </a:prstGeom>
        </p:spPr>
      </p:pic>
      <p:sp>
        <p:nvSpPr>
          <p:cNvPr id="16" name="Text 12"/>
          <p:cNvSpPr/>
          <p:nvPr/>
        </p:nvSpPr>
        <p:spPr>
          <a:xfrm>
            <a:off x="1051560" y="2615184"/>
            <a:ext cx="1280160" cy="256032"/>
          </a:xfrm>
          <a:prstGeom prst="rect">
            <a:avLst/>
          </a:prstGeom>
          <a:noFill/>
          <a:ln/>
        </p:spPr>
        <p:txBody>
          <a:bodyPr wrap="square" lIns="0" tIns="0" rIns="0" bIns="0" rtlCol="0" anchor="ctr"/>
          <a:lstStyle/>
          <a:p>
            <a:pPr indent="0" marL="0">
              <a:buNone/>
            </a:pPr>
            <a:r>
              <a:rPr lang="en-US" sz="1000" b="1" dirty="0">
                <a:solidFill>
                  <a:srgbClr val="334155"/>
                </a:solidFill>
              </a:rPr>
              <a:t>Likely Cause:</a:t>
            </a:r>
            <a:endParaRPr lang="en-US" sz="1000" dirty="0"/>
          </a:p>
        </p:txBody>
      </p:sp>
      <p:sp>
        <p:nvSpPr>
          <p:cNvPr id="17" name="Text 13"/>
          <p:cNvSpPr/>
          <p:nvPr/>
        </p:nvSpPr>
        <p:spPr>
          <a:xfrm>
            <a:off x="2331720" y="2596896"/>
            <a:ext cx="6035040" cy="420624"/>
          </a:xfrm>
          <a:prstGeom prst="rect">
            <a:avLst/>
          </a:prstGeom>
          <a:noFill/>
          <a:ln/>
        </p:spPr>
        <p:txBody>
          <a:bodyPr wrap="square" lIns="0" tIns="0" rIns="0" bIns="0" rtlCol="0" anchor="ctr"/>
          <a:lstStyle/>
          <a:p>
            <a:pPr indent="0" marL="0">
              <a:spcAft>
                <a:spcPts val="200"/>
              </a:spcAft>
              <a:buNone/>
            </a:pPr>
            <a:r>
              <a:rPr lang="en-US" sz="1100" dirty="0">
                <a:solidFill>
                  <a:srgbClr val="0F172A"/>
                </a:solidFill>
              </a:rPr>
              <a:t>Avg lead time 22 days (vs 9-day clinic average) + low reminder coverage (38% vs 61% clinic avg)</a:t>
            </a:r>
            <a:endParaRPr lang="en-US" sz="1100" dirty="0"/>
          </a:p>
        </p:txBody>
      </p:sp>
      <p:sp>
        <p:nvSpPr>
          <p:cNvPr id="18" name="Shape 14"/>
          <p:cNvSpPr/>
          <p:nvPr/>
        </p:nvSpPr>
        <p:spPr>
          <a:xfrm>
            <a:off x="658368" y="3145536"/>
            <a:ext cx="7818120" cy="530352"/>
          </a:xfrm>
          <a:prstGeom prst="rect">
            <a:avLst/>
          </a:prstGeom>
          <a:solidFill>
            <a:srgbClr val="F8FAFC"/>
          </a:solidFill>
          <a:ln w="12700">
            <a:solidFill>
              <a:srgbClr val="F1F5F9"/>
            </a:solidFill>
            <a:prstDash val="solid"/>
          </a:ln>
        </p:spPr>
      </p:sp>
      <p:pic>
        <p:nvPicPr>
          <p:cNvPr id="19" name="Image 2" descr="preencoded.png">    </p:cNvPr>
          <p:cNvPicPr>
            <a:picLocks noChangeAspect="1"/>
          </p:cNvPicPr>
          <p:nvPr/>
        </p:nvPicPr>
        <p:blipFill>
          <a:blip r:embed="rId3"/>
          <a:stretch>
            <a:fillRect/>
          </a:stretch>
        </p:blipFill>
        <p:spPr>
          <a:xfrm>
            <a:off x="731520" y="3264408"/>
            <a:ext cx="256032" cy="256032"/>
          </a:xfrm>
          <a:prstGeom prst="rect">
            <a:avLst/>
          </a:prstGeom>
        </p:spPr>
      </p:pic>
      <p:sp>
        <p:nvSpPr>
          <p:cNvPr id="20" name="Text 15"/>
          <p:cNvSpPr/>
          <p:nvPr/>
        </p:nvSpPr>
        <p:spPr>
          <a:xfrm>
            <a:off x="1051560" y="3218688"/>
            <a:ext cx="1280160" cy="256032"/>
          </a:xfrm>
          <a:prstGeom prst="rect">
            <a:avLst/>
          </a:prstGeom>
          <a:noFill/>
          <a:ln/>
        </p:spPr>
        <p:txBody>
          <a:bodyPr wrap="square" lIns="0" tIns="0" rIns="0" bIns="0" rtlCol="0" anchor="ctr"/>
          <a:lstStyle/>
          <a:p>
            <a:pPr indent="0" marL="0">
              <a:buNone/>
            </a:pPr>
            <a:r>
              <a:rPr lang="en-US" sz="1000" b="1" dirty="0">
                <a:solidFill>
                  <a:srgbClr val="334155"/>
                </a:solidFill>
              </a:rPr>
              <a:t>Recommended Action:</a:t>
            </a:r>
            <a:endParaRPr lang="en-US" sz="1000" dirty="0"/>
          </a:p>
        </p:txBody>
      </p:sp>
      <p:sp>
        <p:nvSpPr>
          <p:cNvPr id="21" name="Text 16"/>
          <p:cNvSpPr/>
          <p:nvPr/>
        </p:nvSpPr>
        <p:spPr>
          <a:xfrm>
            <a:off x="2331720" y="3200400"/>
            <a:ext cx="6035040" cy="420624"/>
          </a:xfrm>
          <a:prstGeom prst="rect">
            <a:avLst/>
          </a:prstGeom>
          <a:noFill/>
          <a:ln/>
        </p:spPr>
        <p:txBody>
          <a:bodyPr wrap="square" lIns="0" tIns="0" rIns="0" bIns="0" rtlCol="0" anchor="ctr"/>
          <a:lstStyle/>
          <a:p>
            <a:pPr indent="0" marL="0">
              <a:spcAft>
                <a:spcPts val="200"/>
              </a:spcAft>
              <a:buNone/>
            </a:pPr>
            <a:r>
              <a:rPr lang="en-US" sz="1100" dirty="0">
                <a:solidFill>
                  <a:srgbClr val="0F172A"/>
                </a:solidFill>
              </a:rPr>
              <a:t>Increase SMS reminders for BH Monday slots; add 7-day pre-call for appointments with lead time &gt;14 days</a:t>
            </a:r>
            <a:endParaRPr lang="en-US" sz="1100" dirty="0"/>
          </a:p>
        </p:txBody>
      </p:sp>
      <p:sp>
        <p:nvSpPr>
          <p:cNvPr id="22" name="Shape 17"/>
          <p:cNvSpPr/>
          <p:nvPr/>
        </p:nvSpPr>
        <p:spPr>
          <a:xfrm>
            <a:off x="658368" y="3749040"/>
            <a:ext cx="7818120" cy="530352"/>
          </a:xfrm>
          <a:prstGeom prst="rect">
            <a:avLst/>
          </a:prstGeom>
          <a:solidFill>
            <a:srgbClr val="FFFFFF"/>
          </a:solidFill>
          <a:ln w="12700">
            <a:solidFill>
              <a:srgbClr val="F1F5F9"/>
            </a:solidFill>
            <a:prstDash val="solid"/>
          </a:ln>
        </p:spPr>
      </p:sp>
      <p:pic>
        <p:nvPicPr>
          <p:cNvPr id="23" name="Image 3" descr="preencoded.png">    </p:cNvPr>
          <p:cNvPicPr>
            <a:picLocks noChangeAspect="1"/>
          </p:cNvPicPr>
          <p:nvPr/>
        </p:nvPicPr>
        <p:blipFill>
          <a:blip r:embed="rId4"/>
          <a:stretch>
            <a:fillRect/>
          </a:stretch>
        </p:blipFill>
        <p:spPr>
          <a:xfrm>
            <a:off x="731520" y="3867912"/>
            <a:ext cx="256032" cy="256032"/>
          </a:xfrm>
          <a:prstGeom prst="rect">
            <a:avLst/>
          </a:prstGeom>
        </p:spPr>
      </p:pic>
      <p:sp>
        <p:nvSpPr>
          <p:cNvPr id="24" name="Text 18"/>
          <p:cNvSpPr/>
          <p:nvPr/>
        </p:nvSpPr>
        <p:spPr>
          <a:xfrm>
            <a:off x="1051560" y="3822192"/>
            <a:ext cx="1280160" cy="256032"/>
          </a:xfrm>
          <a:prstGeom prst="rect">
            <a:avLst/>
          </a:prstGeom>
          <a:noFill/>
          <a:ln/>
        </p:spPr>
        <p:txBody>
          <a:bodyPr wrap="square" lIns="0" tIns="0" rIns="0" bIns="0" rtlCol="0" anchor="ctr"/>
          <a:lstStyle/>
          <a:p>
            <a:pPr indent="0" marL="0">
              <a:buNone/>
            </a:pPr>
            <a:r>
              <a:rPr lang="en-US" sz="1000" b="1" dirty="0">
                <a:solidFill>
                  <a:srgbClr val="334155"/>
                </a:solidFill>
              </a:rPr>
              <a:t>Confidence:</a:t>
            </a:r>
            <a:endParaRPr lang="en-US" sz="1000" dirty="0"/>
          </a:p>
        </p:txBody>
      </p:sp>
      <p:sp>
        <p:nvSpPr>
          <p:cNvPr id="25" name="Text 19"/>
          <p:cNvSpPr/>
          <p:nvPr/>
        </p:nvSpPr>
        <p:spPr>
          <a:xfrm>
            <a:off x="2331720" y="3803904"/>
            <a:ext cx="6035040" cy="420624"/>
          </a:xfrm>
          <a:prstGeom prst="rect">
            <a:avLst/>
          </a:prstGeom>
          <a:noFill/>
          <a:ln/>
        </p:spPr>
        <p:txBody>
          <a:bodyPr wrap="square" lIns="0" tIns="0" rIns="0" bIns="0" rtlCol="0" anchor="ctr"/>
          <a:lstStyle/>
          <a:p>
            <a:pPr indent="0" marL="0">
              <a:spcAft>
                <a:spcPts val="200"/>
              </a:spcAft>
              <a:buNone/>
            </a:pPr>
            <a:r>
              <a:rPr lang="en-US" sz="1100" dirty="0">
                <a:solidFill>
                  <a:srgbClr val="0F172A"/>
                </a:solidFill>
              </a:rPr>
              <a:t>High  •  Deterministic calculation — every figure is verifiable in the raw data</a:t>
            </a:r>
            <a:endParaRPr lang="en-US" sz="1100" dirty="0"/>
          </a:p>
        </p:txBody>
      </p:sp>
      <p:sp>
        <p:nvSpPr>
          <p:cNvPr id="26" name="Shape 20"/>
          <p:cNvSpPr/>
          <p:nvPr/>
        </p:nvSpPr>
        <p:spPr>
          <a:xfrm>
            <a:off x="0" y="4937760"/>
            <a:ext cx="9144000" cy="205740"/>
          </a:xfrm>
          <a:prstGeom prst="rect">
            <a:avLst/>
          </a:prstGeom>
          <a:solidFill>
            <a:srgbClr val="0A5470"/>
          </a:solidFill>
          <a:ln w="12700">
            <a:solidFill>
              <a:srgbClr val="0A5470"/>
            </a:solidFill>
            <a:prstDash val="solid"/>
          </a:ln>
        </p:spPr>
      </p:sp>
      <p:sp>
        <p:nvSpPr>
          <p:cNvPr id="27" name="Text 21"/>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6 / 11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600" b="1" dirty="0">
                <a:solidFill>
                  <a:srgbClr val="0A5470"/>
                </a:solidFill>
                <a:latin typeface="Calibri Light" pitchFamily="34" charset="0"/>
                <a:ea typeface="Calibri Light" pitchFamily="34" charset="-122"/>
                <a:cs typeface="Calibri Light" pitchFamily="34" charset="-120"/>
              </a:rPr>
              <a:t>Automation That Runs While Your Team Sleeps</a:t>
            </a:r>
            <a:endParaRPr lang="en-US" sz="2600" dirty="0"/>
          </a:p>
        </p:txBody>
      </p:sp>
      <p:sp>
        <p:nvSpPr>
          <p:cNvPr id="4" name="Shape 2"/>
          <p:cNvSpPr/>
          <p:nvPr/>
        </p:nvSpPr>
        <p:spPr>
          <a:xfrm>
            <a:off x="182880" y="777240"/>
            <a:ext cx="1828800" cy="1280160"/>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182880" y="777240"/>
            <a:ext cx="1828800" cy="54864"/>
          </a:xfrm>
          <a:prstGeom prst="rect">
            <a:avLst/>
          </a:prstGeom>
          <a:solidFill>
            <a:srgbClr val="0D6B8A"/>
          </a:solidFill>
          <a:ln w="12700">
            <a:solidFill>
              <a:srgbClr val="0D6B8A"/>
            </a:solidFill>
            <a:prstDash val="solid"/>
          </a:ln>
        </p:spPr>
      </p:sp>
      <p:pic>
        <p:nvPicPr>
          <p:cNvPr id="6" name="Image 0" descr="preencoded.png">    </p:cNvPr>
          <p:cNvPicPr>
            <a:picLocks noChangeAspect="1"/>
          </p:cNvPicPr>
          <p:nvPr/>
        </p:nvPicPr>
        <p:blipFill>
          <a:blip r:embed="rId1"/>
          <a:stretch>
            <a:fillRect/>
          </a:stretch>
        </p:blipFill>
        <p:spPr>
          <a:xfrm>
            <a:off x="896112" y="914400"/>
            <a:ext cx="402336" cy="402336"/>
          </a:xfrm>
          <a:prstGeom prst="rect">
            <a:avLst/>
          </a:prstGeom>
        </p:spPr>
      </p:pic>
      <p:sp>
        <p:nvSpPr>
          <p:cNvPr id="7" name="Text 4"/>
          <p:cNvSpPr/>
          <p:nvPr/>
        </p:nvSpPr>
        <p:spPr>
          <a:xfrm>
            <a:off x="228600" y="1353312"/>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Airtable</a:t>
            </a:r>
            <a:endParaRPr lang="en-US" sz="1100" dirty="0"/>
          </a:p>
        </p:txBody>
      </p:sp>
      <p:sp>
        <p:nvSpPr>
          <p:cNvPr id="8" name="Text 5"/>
          <p:cNvSpPr/>
          <p:nvPr/>
        </p:nvSpPr>
        <p:spPr>
          <a:xfrm>
            <a:off x="228600" y="1636776"/>
            <a:ext cx="1737360" cy="320040"/>
          </a:xfrm>
          <a:prstGeom prst="rect">
            <a:avLst/>
          </a:prstGeom>
          <a:noFill/>
          <a:ln/>
        </p:spPr>
        <p:txBody>
          <a:bodyPr wrap="square" lIns="0" tIns="0" rIns="0" bIns="0" rtlCol="0" anchor="ctr"/>
          <a:lstStyle/>
          <a:p>
            <a:pPr algn="ctr" indent="0" marL="0">
              <a:buNone/>
            </a:pPr>
            <a:r>
              <a:rPr lang="en-US" sz="900" dirty="0">
                <a:solidFill>
                  <a:srgbClr val="64748B"/>
                </a:solidFill>
              </a:rPr>
              <a:t>Appointment list</a:t>
            </a:r>
            <a:endParaRPr lang="en-US" sz="900" dirty="0"/>
          </a:p>
        </p:txBody>
      </p:sp>
      <p:sp>
        <p:nvSpPr>
          <p:cNvPr id="9" name="Shape 6"/>
          <p:cNvSpPr/>
          <p:nvPr/>
        </p:nvSpPr>
        <p:spPr>
          <a:xfrm>
            <a:off x="2029968" y="1344168"/>
            <a:ext cx="292608" cy="73152"/>
          </a:xfrm>
          <a:prstGeom prst="rect">
            <a:avLst/>
          </a:prstGeom>
          <a:solidFill>
            <a:srgbClr val="64748B"/>
          </a:solidFill>
          <a:ln w="12700">
            <a:solidFill>
              <a:srgbClr val="64748B"/>
            </a:solidFill>
            <a:prstDash val="solid"/>
          </a:ln>
        </p:spPr>
      </p:sp>
      <p:sp>
        <p:nvSpPr>
          <p:cNvPr id="10" name="Text 7"/>
          <p:cNvSpPr/>
          <p:nvPr/>
        </p:nvSpPr>
        <p:spPr>
          <a:xfrm>
            <a:off x="2121408" y="1225296"/>
            <a:ext cx="182880" cy="274320"/>
          </a:xfrm>
          <a:prstGeom prst="rect">
            <a:avLst/>
          </a:prstGeom>
          <a:noFill/>
          <a:ln/>
        </p:spPr>
        <p:txBody>
          <a:bodyPr wrap="square" lIns="0" tIns="0" rIns="0" bIns="0" rtlCol="0" anchor="ctr"/>
          <a:lstStyle/>
          <a:p>
            <a:pPr algn="ctr" indent="0" marL="0">
              <a:buNone/>
            </a:pPr>
            <a:r>
              <a:rPr lang="en-US" sz="2000" dirty="0">
                <a:solidFill>
                  <a:srgbClr val="64748B"/>
                </a:solidFill>
              </a:rPr>
              <a:t>›</a:t>
            </a:r>
            <a:endParaRPr lang="en-US" sz="2000" dirty="0"/>
          </a:p>
        </p:txBody>
      </p:sp>
      <p:sp>
        <p:nvSpPr>
          <p:cNvPr id="11" name="Shape 8"/>
          <p:cNvSpPr/>
          <p:nvPr/>
        </p:nvSpPr>
        <p:spPr>
          <a:xfrm>
            <a:off x="2331720" y="777240"/>
            <a:ext cx="1828800" cy="1280160"/>
          </a:xfrm>
          <a:prstGeom prst="rect">
            <a:avLst/>
          </a:prstGeom>
          <a:solidFill>
            <a:srgbClr val="FFF0E6"/>
          </a:solidFill>
          <a:ln w="19050">
            <a:solidFill>
              <a:srgbClr val="E8762B"/>
            </a:solidFill>
            <a:prstDash val="solid"/>
          </a:ln>
          <a:effectLst>
            <a:outerShdw sx="100000" sy="100000" kx="0" ky="0" algn="bl" rotWithShape="0" blurRad="76200" dist="25400" dir="8100000">
              <a:srgbClr val="000000">
                <a:alpha val="8000"/>
              </a:srgbClr>
            </a:outerShdw>
          </a:effectLst>
        </p:spPr>
      </p:sp>
      <p:sp>
        <p:nvSpPr>
          <p:cNvPr id="12" name="Shape 9"/>
          <p:cNvSpPr/>
          <p:nvPr/>
        </p:nvSpPr>
        <p:spPr>
          <a:xfrm>
            <a:off x="2331720" y="777240"/>
            <a:ext cx="1828800" cy="54864"/>
          </a:xfrm>
          <a:prstGeom prst="rect">
            <a:avLst/>
          </a:prstGeom>
          <a:solidFill>
            <a:srgbClr val="E8762B"/>
          </a:solidFill>
          <a:ln w="12700">
            <a:solidFill>
              <a:srgbClr val="E8762B"/>
            </a:solidFill>
            <a:prstDash val="solid"/>
          </a:ln>
        </p:spPr>
      </p:sp>
      <p:pic>
        <p:nvPicPr>
          <p:cNvPr id="13" name="Image 1" descr="preencoded.png">    </p:cNvPr>
          <p:cNvPicPr>
            <a:picLocks noChangeAspect="1"/>
          </p:cNvPicPr>
          <p:nvPr/>
        </p:nvPicPr>
        <p:blipFill>
          <a:blip r:embed="rId2"/>
          <a:stretch>
            <a:fillRect/>
          </a:stretch>
        </p:blipFill>
        <p:spPr>
          <a:xfrm>
            <a:off x="3044952" y="914400"/>
            <a:ext cx="402336" cy="402336"/>
          </a:xfrm>
          <a:prstGeom prst="rect">
            <a:avLst/>
          </a:prstGeom>
        </p:spPr>
      </p:pic>
      <p:sp>
        <p:nvSpPr>
          <p:cNvPr id="14" name="Text 10"/>
          <p:cNvSpPr/>
          <p:nvPr/>
        </p:nvSpPr>
        <p:spPr>
          <a:xfrm>
            <a:off x="2377440" y="1353312"/>
            <a:ext cx="1737360" cy="274320"/>
          </a:xfrm>
          <a:prstGeom prst="rect">
            <a:avLst/>
          </a:prstGeom>
          <a:noFill/>
          <a:ln/>
        </p:spPr>
        <p:txBody>
          <a:bodyPr wrap="square" lIns="0" tIns="0" rIns="0" bIns="0" rtlCol="0" anchor="ctr"/>
          <a:lstStyle/>
          <a:p>
            <a:pPr algn="ctr" indent="0" marL="0">
              <a:buNone/>
            </a:pPr>
            <a:r>
              <a:rPr lang="en-US" sz="1100" b="1" dirty="0">
                <a:solidFill>
                  <a:srgbClr val="0F172A"/>
                </a:solidFill>
              </a:rPr>
              <a:t>AI Risk Score</a:t>
            </a:r>
            <a:endParaRPr lang="en-US" sz="1100" dirty="0"/>
          </a:p>
        </p:txBody>
      </p:sp>
      <p:sp>
        <p:nvSpPr>
          <p:cNvPr id="15" name="Text 11"/>
          <p:cNvSpPr/>
          <p:nvPr/>
        </p:nvSpPr>
        <p:spPr>
          <a:xfrm>
            <a:off x="2377440" y="1636776"/>
            <a:ext cx="1737360" cy="320040"/>
          </a:xfrm>
          <a:prstGeom prst="rect">
            <a:avLst/>
          </a:prstGeom>
          <a:noFill/>
          <a:ln/>
        </p:spPr>
        <p:txBody>
          <a:bodyPr wrap="square" lIns="0" tIns="0" rIns="0" bIns="0" rtlCol="0" anchor="ctr"/>
          <a:lstStyle/>
          <a:p>
            <a:pPr algn="ctr" indent="0" marL="0">
              <a:buNone/>
            </a:pPr>
            <a:r>
              <a:rPr lang="en-US" sz="900" dirty="0">
                <a:solidFill>
                  <a:srgbClr val="64748B"/>
                </a:solidFill>
              </a:rPr>
              <a:t>Flag high-risk slots</a:t>
            </a:r>
            <a:endParaRPr lang="en-US" sz="900" dirty="0"/>
          </a:p>
        </p:txBody>
      </p:sp>
      <p:sp>
        <p:nvSpPr>
          <p:cNvPr id="16" name="Text 12"/>
          <p:cNvSpPr/>
          <p:nvPr/>
        </p:nvSpPr>
        <p:spPr>
          <a:xfrm>
            <a:off x="3154680" y="2176272"/>
            <a:ext cx="1645920" cy="274320"/>
          </a:xfrm>
          <a:prstGeom prst="rect">
            <a:avLst/>
          </a:prstGeom>
          <a:noFill/>
          <a:ln/>
        </p:spPr>
        <p:txBody>
          <a:bodyPr wrap="square" lIns="0" tIns="0" rIns="0" bIns="0" rtlCol="0" anchor="ctr"/>
          <a:lstStyle/>
          <a:p>
            <a:pPr algn="ctr" indent="0" marL="0">
              <a:buNone/>
            </a:pPr>
            <a:r>
              <a:rPr lang="en-US" sz="1000" i="1" dirty="0">
                <a:solidFill>
                  <a:srgbClr val="64748B"/>
                </a:solidFill>
              </a:rPr>
              <a:t>↙  Branch  ↘</a:t>
            </a:r>
            <a:endParaRPr lang="en-US" sz="1000" dirty="0"/>
          </a:p>
        </p:txBody>
      </p:sp>
      <p:sp>
        <p:nvSpPr>
          <p:cNvPr id="17" name="Shape 13"/>
          <p:cNvSpPr/>
          <p:nvPr/>
        </p:nvSpPr>
        <p:spPr>
          <a:xfrm>
            <a:off x="182880" y="2514600"/>
            <a:ext cx="2560320" cy="1188720"/>
          </a:xfrm>
          <a:prstGeom prst="rect">
            <a:avLst/>
          </a:prstGeom>
          <a:solidFill>
            <a:srgbClr val="F0FDF4"/>
          </a:solidFill>
          <a:ln w="19050">
            <a:solidFill>
              <a:srgbClr val="16A34A"/>
            </a:solidFill>
            <a:prstDash val="solid"/>
          </a:ln>
          <a:effectLst>
            <a:outerShdw sx="100000" sy="100000" kx="0" ky="0" algn="bl" rotWithShape="0" blurRad="76200" dist="25400" dir="8100000">
              <a:srgbClr val="000000">
                <a:alpha val="8000"/>
              </a:srgbClr>
            </a:outerShdw>
          </a:effectLst>
        </p:spPr>
      </p:sp>
      <p:sp>
        <p:nvSpPr>
          <p:cNvPr id="18" name="Shape 14"/>
          <p:cNvSpPr/>
          <p:nvPr/>
        </p:nvSpPr>
        <p:spPr>
          <a:xfrm>
            <a:off x="182880" y="2514600"/>
            <a:ext cx="2560320" cy="54864"/>
          </a:xfrm>
          <a:prstGeom prst="rect">
            <a:avLst/>
          </a:prstGeom>
          <a:solidFill>
            <a:srgbClr val="16A34A"/>
          </a:solidFill>
          <a:ln w="12700">
            <a:solidFill>
              <a:srgbClr val="16A34A"/>
            </a:solidFill>
            <a:prstDash val="solid"/>
          </a:ln>
        </p:spPr>
      </p:sp>
      <p:pic>
        <p:nvPicPr>
          <p:cNvPr id="19" name="Image 2" descr="preencoded.png">    </p:cNvPr>
          <p:cNvPicPr>
            <a:picLocks noChangeAspect="1"/>
          </p:cNvPicPr>
          <p:nvPr/>
        </p:nvPicPr>
        <p:blipFill>
          <a:blip r:embed="rId3"/>
          <a:stretch>
            <a:fillRect/>
          </a:stretch>
        </p:blipFill>
        <p:spPr>
          <a:xfrm>
            <a:off x="1261872" y="2651760"/>
            <a:ext cx="402336" cy="402336"/>
          </a:xfrm>
          <a:prstGeom prst="rect">
            <a:avLst/>
          </a:prstGeom>
        </p:spPr>
      </p:pic>
      <p:sp>
        <p:nvSpPr>
          <p:cNvPr id="20" name="Text 15"/>
          <p:cNvSpPr/>
          <p:nvPr/>
        </p:nvSpPr>
        <p:spPr>
          <a:xfrm>
            <a:off x="228600" y="3090672"/>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rPr>
              <a:t>48h Reminder</a:t>
            </a:r>
            <a:endParaRPr lang="en-US" sz="1100" dirty="0"/>
          </a:p>
        </p:txBody>
      </p:sp>
      <p:sp>
        <p:nvSpPr>
          <p:cNvPr id="21" name="Text 16"/>
          <p:cNvSpPr/>
          <p:nvPr/>
        </p:nvSpPr>
        <p:spPr>
          <a:xfrm>
            <a:off x="228600" y="3374136"/>
            <a:ext cx="2468880" cy="320040"/>
          </a:xfrm>
          <a:prstGeom prst="rect">
            <a:avLst/>
          </a:prstGeom>
          <a:noFill/>
          <a:ln/>
        </p:spPr>
        <p:txBody>
          <a:bodyPr wrap="square" lIns="0" tIns="0" rIns="0" bIns="0" rtlCol="0" anchor="ctr"/>
          <a:lstStyle/>
          <a:p>
            <a:pPr algn="ctr" indent="0" marL="0">
              <a:buNone/>
            </a:pPr>
            <a:r>
              <a:rPr lang="en-US" sz="900" dirty="0">
                <a:solidFill>
                  <a:srgbClr val="64748B"/>
                </a:solidFill>
              </a:rPr>
              <a:t>SMS / Email to patient</a:t>
            </a:r>
            <a:endParaRPr lang="en-US" sz="900" dirty="0"/>
          </a:p>
        </p:txBody>
      </p:sp>
      <p:sp>
        <p:nvSpPr>
          <p:cNvPr id="22" name="Shape 17"/>
          <p:cNvSpPr/>
          <p:nvPr/>
        </p:nvSpPr>
        <p:spPr>
          <a:xfrm>
            <a:off x="3246120" y="2514600"/>
            <a:ext cx="2560320" cy="1188720"/>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23" name="Shape 18"/>
          <p:cNvSpPr/>
          <p:nvPr/>
        </p:nvSpPr>
        <p:spPr>
          <a:xfrm>
            <a:off x="3246120" y="2514600"/>
            <a:ext cx="2560320" cy="54864"/>
          </a:xfrm>
          <a:prstGeom prst="rect">
            <a:avLst/>
          </a:prstGeom>
          <a:solidFill>
            <a:srgbClr val="0D6B8A"/>
          </a:solidFill>
          <a:ln w="12700">
            <a:solidFill>
              <a:srgbClr val="0D6B8A"/>
            </a:solidFill>
            <a:prstDash val="solid"/>
          </a:ln>
        </p:spPr>
      </p:sp>
      <p:pic>
        <p:nvPicPr>
          <p:cNvPr id="24" name="Image 3" descr="preencoded.png">    </p:cNvPr>
          <p:cNvPicPr>
            <a:picLocks noChangeAspect="1"/>
          </p:cNvPicPr>
          <p:nvPr/>
        </p:nvPicPr>
        <p:blipFill>
          <a:blip r:embed="rId4"/>
          <a:stretch>
            <a:fillRect/>
          </a:stretch>
        </p:blipFill>
        <p:spPr>
          <a:xfrm>
            <a:off x="4325112" y="2651760"/>
            <a:ext cx="402336" cy="402336"/>
          </a:xfrm>
          <a:prstGeom prst="rect">
            <a:avLst/>
          </a:prstGeom>
        </p:spPr>
      </p:pic>
      <p:sp>
        <p:nvSpPr>
          <p:cNvPr id="25" name="Text 19"/>
          <p:cNvSpPr/>
          <p:nvPr/>
        </p:nvSpPr>
        <p:spPr>
          <a:xfrm>
            <a:off x="3291840" y="3090672"/>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rPr>
              <a:t>Post-Visit Follow-up</a:t>
            </a:r>
            <a:endParaRPr lang="en-US" sz="1100" dirty="0"/>
          </a:p>
        </p:txBody>
      </p:sp>
      <p:sp>
        <p:nvSpPr>
          <p:cNvPr id="26" name="Text 20"/>
          <p:cNvSpPr/>
          <p:nvPr/>
        </p:nvSpPr>
        <p:spPr>
          <a:xfrm>
            <a:off x="3291840" y="3374136"/>
            <a:ext cx="2468880" cy="320040"/>
          </a:xfrm>
          <a:prstGeom prst="rect">
            <a:avLst/>
          </a:prstGeom>
          <a:noFill/>
          <a:ln/>
        </p:spPr>
        <p:txBody>
          <a:bodyPr wrap="square" lIns="0" tIns="0" rIns="0" bIns="0" rtlCol="0" anchor="ctr"/>
          <a:lstStyle/>
          <a:p>
            <a:pPr algn="ctr" indent="0" marL="0">
              <a:buNone/>
            </a:pPr>
            <a:r>
              <a:rPr lang="en-US" sz="900" dirty="0">
                <a:solidFill>
                  <a:srgbClr val="64748B"/>
                </a:solidFill>
              </a:rPr>
              <a:t>Satisfaction message</a:t>
            </a:r>
            <a:endParaRPr lang="en-US" sz="900" dirty="0"/>
          </a:p>
        </p:txBody>
      </p:sp>
      <p:sp>
        <p:nvSpPr>
          <p:cNvPr id="27" name="Shape 21"/>
          <p:cNvSpPr/>
          <p:nvPr/>
        </p:nvSpPr>
        <p:spPr>
          <a:xfrm>
            <a:off x="6309360" y="2514600"/>
            <a:ext cx="2560320" cy="1188720"/>
          </a:xfrm>
          <a:prstGeom prst="rect">
            <a:avLst/>
          </a:prstGeom>
          <a:solidFill>
            <a:srgbClr val="EFF6FF"/>
          </a:solidFill>
          <a:ln w="19050">
            <a:solidFill>
              <a:srgbClr val="1D4ED8"/>
            </a:solidFill>
            <a:prstDash val="solid"/>
          </a:ln>
          <a:effectLst>
            <a:outerShdw sx="100000" sy="100000" kx="0" ky="0" algn="bl" rotWithShape="0" blurRad="76200" dist="25400" dir="8100000">
              <a:srgbClr val="000000">
                <a:alpha val="8000"/>
              </a:srgbClr>
            </a:outerShdw>
          </a:effectLst>
        </p:spPr>
      </p:sp>
      <p:sp>
        <p:nvSpPr>
          <p:cNvPr id="28" name="Shape 22"/>
          <p:cNvSpPr/>
          <p:nvPr/>
        </p:nvSpPr>
        <p:spPr>
          <a:xfrm>
            <a:off x="6309360" y="2514600"/>
            <a:ext cx="2560320" cy="54864"/>
          </a:xfrm>
          <a:prstGeom prst="rect">
            <a:avLst/>
          </a:prstGeom>
          <a:solidFill>
            <a:srgbClr val="1D4ED8"/>
          </a:solidFill>
          <a:ln w="12700">
            <a:solidFill>
              <a:srgbClr val="1D4ED8"/>
            </a:solidFill>
            <a:prstDash val="solid"/>
          </a:ln>
        </p:spPr>
      </p:sp>
      <p:pic>
        <p:nvPicPr>
          <p:cNvPr id="29" name="Image 4" descr="preencoded.png">    </p:cNvPr>
          <p:cNvPicPr>
            <a:picLocks noChangeAspect="1"/>
          </p:cNvPicPr>
          <p:nvPr/>
        </p:nvPicPr>
        <p:blipFill>
          <a:blip r:embed="rId5"/>
          <a:stretch>
            <a:fillRect/>
          </a:stretch>
        </p:blipFill>
        <p:spPr>
          <a:xfrm>
            <a:off x="7388352" y="2651760"/>
            <a:ext cx="402336" cy="402336"/>
          </a:xfrm>
          <a:prstGeom prst="rect">
            <a:avLst/>
          </a:prstGeom>
        </p:spPr>
      </p:pic>
      <p:sp>
        <p:nvSpPr>
          <p:cNvPr id="30" name="Text 23"/>
          <p:cNvSpPr/>
          <p:nvPr/>
        </p:nvSpPr>
        <p:spPr>
          <a:xfrm>
            <a:off x="6355080" y="3090672"/>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rPr>
              <a:t>No-Show Outreach</a:t>
            </a:r>
            <a:endParaRPr lang="en-US" sz="1100" dirty="0"/>
          </a:p>
        </p:txBody>
      </p:sp>
      <p:sp>
        <p:nvSpPr>
          <p:cNvPr id="31" name="Text 24"/>
          <p:cNvSpPr/>
          <p:nvPr/>
        </p:nvSpPr>
        <p:spPr>
          <a:xfrm>
            <a:off x="6355080" y="3374136"/>
            <a:ext cx="2468880" cy="320040"/>
          </a:xfrm>
          <a:prstGeom prst="rect">
            <a:avLst/>
          </a:prstGeom>
          <a:noFill/>
          <a:ln/>
        </p:spPr>
        <p:txBody>
          <a:bodyPr wrap="square" lIns="0" tIns="0" rIns="0" bIns="0" rtlCol="0" anchor="ctr"/>
          <a:lstStyle/>
          <a:p>
            <a:pPr algn="ctr" indent="0" marL="0">
              <a:buNone/>
            </a:pPr>
            <a:r>
              <a:rPr lang="en-US" sz="900" dirty="0">
                <a:solidFill>
                  <a:srgbClr val="64748B"/>
                </a:solidFill>
              </a:rPr>
              <a:t>Rebook prompt sent</a:t>
            </a:r>
            <a:endParaRPr lang="en-US" sz="900" dirty="0"/>
          </a:p>
        </p:txBody>
      </p:sp>
      <p:sp>
        <p:nvSpPr>
          <p:cNvPr id="32" name="Text 25"/>
          <p:cNvSpPr/>
          <p:nvPr/>
        </p:nvSpPr>
        <p:spPr>
          <a:xfrm>
            <a:off x="1280160" y="3730752"/>
            <a:ext cx="274320" cy="22860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33" name="Text 26"/>
          <p:cNvSpPr/>
          <p:nvPr/>
        </p:nvSpPr>
        <p:spPr>
          <a:xfrm>
            <a:off x="4343400" y="3730752"/>
            <a:ext cx="274320" cy="22860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34" name="Text 27"/>
          <p:cNvSpPr/>
          <p:nvPr/>
        </p:nvSpPr>
        <p:spPr>
          <a:xfrm>
            <a:off x="7406640" y="3730752"/>
            <a:ext cx="274320" cy="228600"/>
          </a:xfrm>
          <a:prstGeom prst="rect">
            <a:avLst/>
          </a:prstGeom>
          <a:noFill/>
          <a:ln/>
        </p:spPr>
        <p:txBody>
          <a:bodyPr wrap="square" lIns="0" tIns="0" rIns="0" bIns="0" rtlCol="0" anchor="ctr"/>
          <a:lstStyle/>
          <a:p>
            <a:pPr algn="ctr" indent="0" marL="0">
              <a:buNone/>
            </a:pPr>
            <a:r>
              <a:rPr lang="en-US" sz="1600" dirty="0">
                <a:solidFill>
                  <a:srgbClr val="64748B"/>
                </a:solidFill>
              </a:rPr>
              <a:t>↓</a:t>
            </a:r>
            <a:endParaRPr lang="en-US" sz="1600" dirty="0"/>
          </a:p>
        </p:txBody>
      </p:sp>
      <p:sp>
        <p:nvSpPr>
          <p:cNvPr id="35" name="Shape 28"/>
          <p:cNvSpPr/>
          <p:nvPr/>
        </p:nvSpPr>
        <p:spPr>
          <a:xfrm>
            <a:off x="3246120" y="4005072"/>
            <a:ext cx="2560320" cy="804672"/>
          </a:xfrm>
          <a:prstGeom prst="rect">
            <a:avLst/>
          </a:prstGeom>
          <a:solidFill>
            <a:srgbClr val="E8F4F8"/>
          </a:solidFill>
          <a:ln w="19050">
            <a:solidFill>
              <a:srgbClr val="0D6B8A"/>
            </a:solidFill>
            <a:prstDash val="solid"/>
          </a:ln>
          <a:effectLst>
            <a:outerShdw sx="100000" sy="100000" kx="0" ky="0" algn="bl" rotWithShape="0" blurRad="76200" dist="25400" dir="8100000">
              <a:srgbClr val="000000">
                <a:alpha val="8000"/>
              </a:srgbClr>
            </a:outerShdw>
          </a:effectLst>
        </p:spPr>
      </p:sp>
      <p:sp>
        <p:nvSpPr>
          <p:cNvPr id="36" name="Shape 29"/>
          <p:cNvSpPr/>
          <p:nvPr/>
        </p:nvSpPr>
        <p:spPr>
          <a:xfrm>
            <a:off x="3246120" y="4005072"/>
            <a:ext cx="2560320" cy="54864"/>
          </a:xfrm>
          <a:prstGeom prst="rect">
            <a:avLst/>
          </a:prstGeom>
          <a:solidFill>
            <a:srgbClr val="0D6B8A"/>
          </a:solidFill>
          <a:ln w="12700">
            <a:solidFill>
              <a:srgbClr val="0D6B8A"/>
            </a:solidFill>
            <a:prstDash val="solid"/>
          </a:ln>
        </p:spPr>
      </p:sp>
      <p:pic>
        <p:nvPicPr>
          <p:cNvPr id="37" name="Image 5" descr="preencoded.png">    </p:cNvPr>
          <p:cNvPicPr>
            <a:picLocks noChangeAspect="1"/>
          </p:cNvPicPr>
          <p:nvPr/>
        </p:nvPicPr>
        <p:blipFill>
          <a:blip r:embed="rId6"/>
          <a:stretch>
            <a:fillRect/>
          </a:stretch>
        </p:blipFill>
        <p:spPr>
          <a:xfrm>
            <a:off x="4325112" y="4142232"/>
            <a:ext cx="402336" cy="402336"/>
          </a:xfrm>
          <a:prstGeom prst="rect">
            <a:avLst/>
          </a:prstGeom>
        </p:spPr>
      </p:pic>
      <p:sp>
        <p:nvSpPr>
          <p:cNvPr id="38" name="Text 30"/>
          <p:cNvSpPr/>
          <p:nvPr/>
        </p:nvSpPr>
        <p:spPr>
          <a:xfrm>
            <a:off x="3291840" y="4581144"/>
            <a:ext cx="2468880" cy="274320"/>
          </a:xfrm>
          <a:prstGeom prst="rect">
            <a:avLst/>
          </a:prstGeom>
          <a:noFill/>
          <a:ln/>
        </p:spPr>
        <p:txBody>
          <a:bodyPr wrap="square" lIns="0" tIns="0" rIns="0" bIns="0" rtlCol="0" anchor="ctr"/>
          <a:lstStyle/>
          <a:p>
            <a:pPr algn="ctr" indent="0" marL="0">
              <a:buNone/>
            </a:pPr>
            <a:r>
              <a:rPr lang="en-US" sz="1100" b="1" dirty="0">
                <a:solidFill>
                  <a:srgbClr val="0F172A"/>
                </a:solidFill>
              </a:rPr>
              <a:t>Log to Airtable</a:t>
            </a:r>
            <a:endParaRPr lang="en-US" sz="1100" dirty="0"/>
          </a:p>
        </p:txBody>
      </p:sp>
      <p:sp>
        <p:nvSpPr>
          <p:cNvPr id="39" name="Text 31"/>
          <p:cNvSpPr/>
          <p:nvPr/>
        </p:nvSpPr>
        <p:spPr>
          <a:xfrm>
            <a:off x="3291840" y="4864608"/>
            <a:ext cx="2468880" cy="320040"/>
          </a:xfrm>
          <a:prstGeom prst="rect">
            <a:avLst/>
          </a:prstGeom>
          <a:noFill/>
          <a:ln/>
        </p:spPr>
        <p:txBody>
          <a:bodyPr wrap="square" lIns="0" tIns="0" rIns="0" bIns="0" rtlCol="0" anchor="ctr"/>
          <a:lstStyle/>
          <a:p>
            <a:pPr algn="ctr" indent="0" marL="0">
              <a:buNone/>
            </a:pPr>
            <a:r>
              <a:rPr lang="en-US" sz="900" dirty="0">
                <a:solidFill>
                  <a:srgbClr val="64748B"/>
                </a:solidFill>
              </a:rPr>
              <a:t>Full audit trail</a:t>
            </a:r>
            <a:endParaRPr lang="en-US" sz="900" dirty="0"/>
          </a:p>
        </p:txBody>
      </p:sp>
      <p:sp>
        <p:nvSpPr>
          <p:cNvPr id="40" name="Shape 32"/>
          <p:cNvSpPr/>
          <p:nvPr/>
        </p:nvSpPr>
        <p:spPr>
          <a:xfrm>
            <a:off x="182880" y="4160520"/>
            <a:ext cx="2651760" cy="274320"/>
          </a:xfrm>
          <a:prstGeom prst="rect">
            <a:avLst/>
          </a:prstGeom>
          <a:solidFill>
            <a:srgbClr val="F0FDF4"/>
          </a:solidFill>
          <a:ln w="12700">
            <a:solidFill>
              <a:srgbClr val="16A34A"/>
            </a:solidFill>
            <a:prstDash val="solid"/>
          </a:ln>
        </p:spPr>
      </p:sp>
      <p:sp>
        <p:nvSpPr>
          <p:cNvPr id="41" name="Text 33"/>
          <p:cNvSpPr/>
          <p:nvPr/>
        </p:nvSpPr>
        <p:spPr>
          <a:xfrm>
            <a:off x="228600" y="4160520"/>
            <a:ext cx="2560320" cy="274320"/>
          </a:xfrm>
          <a:prstGeom prst="rect">
            <a:avLst/>
          </a:prstGeom>
          <a:noFill/>
          <a:ln/>
        </p:spPr>
        <p:txBody>
          <a:bodyPr wrap="square" lIns="0" tIns="0" rIns="0" bIns="0" rtlCol="0" anchor="ctr"/>
          <a:lstStyle/>
          <a:p>
            <a:pPr algn="ctr" indent="0" marL="0">
              <a:buNone/>
            </a:pPr>
            <a:r>
              <a:rPr lang="en-US" sz="850" dirty="0">
                <a:solidFill>
                  <a:srgbClr val="16A34A"/>
                </a:solidFill>
              </a:rPr>
              <a:t>Built with n8n — open source, self-hostable, no vendor lock-in</a:t>
            </a:r>
            <a:endParaRPr lang="en-US" sz="850" dirty="0"/>
          </a:p>
        </p:txBody>
      </p:sp>
      <p:sp>
        <p:nvSpPr>
          <p:cNvPr id="42" name="Shape 34"/>
          <p:cNvSpPr/>
          <p:nvPr/>
        </p:nvSpPr>
        <p:spPr>
          <a:xfrm>
            <a:off x="0" y="4937760"/>
            <a:ext cx="9144000" cy="205740"/>
          </a:xfrm>
          <a:prstGeom prst="rect">
            <a:avLst/>
          </a:prstGeom>
          <a:solidFill>
            <a:srgbClr val="0A5470"/>
          </a:solidFill>
          <a:ln w="12700">
            <a:solidFill>
              <a:srgbClr val="0A5470"/>
            </a:solidFill>
            <a:prstDash val="solid"/>
          </a:ln>
        </p:spPr>
      </p:sp>
      <p:sp>
        <p:nvSpPr>
          <p:cNvPr id="43" name="Text 35"/>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7 / 11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762B"/>
          </a:solidFill>
          <a:ln w="12700">
            <a:solidFill>
              <a:srgbClr val="E8762B"/>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Light" pitchFamily="34" charset="0"/>
                <a:ea typeface="Calibri Light" pitchFamily="34" charset="-122"/>
                <a:cs typeface="Calibri Light" pitchFamily="34" charset="-120"/>
              </a:rPr>
              <a:t>Every AI Decision Is Logged and Auditable</a:t>
            </a:r>
            <a:endParaRPr lang="en-US" sz="2600" dirty="0"/>
          </a:p>
        </p:txBody>
      </p:sp>
      <p:sp>
        <p:nvSpPr>
          <p:cNvPr id="4" name="Shape 2"/>
          <p:cNvSpPr/>
          <p:nvPr/>
        </p:nvSpPr>
        <p:spPr>
          <a:xfrm>
            <a:off x="365760" y="777240"/>
            <a:ext cx="5394960" cy="3886200"/>
          </a:xfrm>
          <a:prstGeom prst="rect">
            <a:avLst/>
          </a:prstGeom>
          <a:solidFill>
            <a:srgbClr val="1E293B"/>
          </a:solidFill>
          <a:ln w="12700">
            <a:solidFill>
              <a:srgbClr val="334155"/>
            </a:solidFill>
            <a:prstDash val="solid"/>
          </a:ln>
        </p:spPr>
      </p:sp>
      <p:sp>
        <p:nvSpPr>
          <p:cNvPr id="5" name="Shape 3"/>
          <p:cNvSpPr/>
          <p:nvPr/>
        </p:nvSpPr>
        <p:spPr>
          <a:xfrm>
            <a:off x="365760" y="777240"/>
            <a:ext cx="5394960" cy="365760"/>
          </a:xfrm>
          <a:prstGeom prst="rect">
            <a:avLst/>
          </a:prstGeom>
          <a:solidFill>
            <a:srgbClr val="334155"/>
          </a:solidFill>
          <a:ln w="12700">
            <a:solidFill>
              <a:srgbClr val="334155"/>
            </a:solidFill>
            <a:prstDash val="solid"/>
          </a:ln>
        </p:spPr>
      </p:sp>
      <p:sp>
        <p:nvSpPr>
          <p:cNvPr id="6" name="Text 4"/>
          <p:cNvSpPr/>
          <p:nvPr/>
        </p:nvSpPr>
        <p:spPr>
          <a:xfrm>
            <a:off x="457200" y="777240"/>
            <a:ext cx="5212080" cy="365760"/>
          </a:xfrm>
          <a:prstGeom prst="rect">
            <a:avLst/>
          </a:prstGeom>
          <a:noFill/>
          <a:ln/>
        </p:spPr>
        <p:txBody>
          <a:bodyPr wrap="square" lIns="0" tIns="0" rIns="0" bIns="0" rtlCol="0" anchor="ctr"/>
          <a:lstStyle/>
          <a:p>
            <a:pPr indent="0" marL="0">
              <a:buNone/>
            </a:pPr>
            <a:r>
              <a:rPr lang="en-US" sz="900" b="1" spc="50" kern="0" dirty="0">
                <a:solidFill>
                  <a:srgbClr val="7DD3FC"/>
                </a:solidFill>
              </a:rPr>
              <a:t>LANGSMITH MONITORING  —  LIVE TRACE LOG</a:t>
            </a:r>
            <a:endParaRPr lang="en-US" sz="900" dirty="0"/>
          </a:p>
        </p:txBody>
      </p:sp>
      <p:sp>
        <p:nvSpPr>
          <p:cNvPr id="7" name="Shape 5"/>
          <p:cNvSpPr/>
          <p:nvPr/>
        </p:nvSpPr>
        <p:spPr>
          <a:xfrm>
            <a:off x="365760" y="1143000"/>
            <a:ext cx="5394960" cy="292608"/>
          </a:xfrm>
          <a:prstGeom prst="rect">
            <a:avLst/>
          </a:prstGeom>
          <a:solidFill>
            <a:srgbClr val="0F172A"/>
          </a:solidFill>
          <a:ln w="12700">
            <a:solidFill>
              <a:srgbClr val="1E293B"/>
            </a:solidFill>
            <a:prstDash val="solid"/>
          </a:ln>
        </p:spPr>
      </p:sp>
      <p:sp>
        <p:nvSpPr>
          <p:cNvPr id="8" name="Text 6"/>
          <p:cNvSpPr/>
          <p:nvPr/>
        </p:nvSpPr>
        <p:spPr>
          <a:xfrm>
            <a:off x="411480" y="1143000"/>
            <a:ext cx="777240" cy="292608"/>
          </a:xfrm>
          <a:prstGeom prst="rect">
            <a:avLst/>
          </a:prstGeom>
          <a:noFill/>
          <a:ln/>
        </p:spPr>
        <p:txBody>
          <a:bodyPr wrap="square" lIns="0" tIns="0" rIns="0" bIns="0" rtlCol="0" anchor="ctr"/>
          <a:lstStyle/>
          <a:p>
            <a:pPr indent="0" marL="0">
              <a:buNone/>
            </a:pPr>
            <a:r>
              <a:rPr lang="en-US" sz="850" b="1" dirty="0">
                <a:solidFill>
                  <a:srgbClr val="94A3B8"/>
                </a:solidFill>
              </a:rPr>
              <a:t>Trace ID</a:t>
            </a:r>
            <a:endParaRPr lang="en-US" sz="850" dirty="0"/>
          </a:p>
        </p:txBody>
      </p:sp>
      <p:sp>
        <p:nvSpPr>
          <p:cNvPr id="9" name="Text 7"/>
          <p:cNvSpPr/>
          <p:nvPr/>
        </p:nvSpPr>
        <p:spPr>
          <a:xfrm>
            <a:off x="1234440" y="1143000"/>
            <a:ext cx="1234440" cy="292608"/>
          </a:xfrm>
          <a:prstGeom prst="rect">
            <a:avLst/>
          </a:prstGeom>
          <a:noFill/>
          <a:ln/>
        </p:spPr>
        <p:txBody>
          <a:bodyPr wrap="square" lIns="0" tIns="0" rIns="0" bIns="0" rtlCol="0" anchor="ctr"/>
          <a:lstStyle/>
          <a:p>
            <a:pPr indent="0" marL="0">
              <a:buNone/>
            </a:pPr>
            <a:r>
              <a:rPr lang="en-US" sz="850" b="1" dirty="0">
                <a:solidFill>
                  <a:srgbClr val="94A3B8"/>
                </a:solidFill>
              </a:rPr>
              <a:t>Query</a:t>
            </a:r>
            <a:endParaRPr lang="en-US" sz="850" dirty="0"/>
          </a:p>
        </p:txBody>
      </p:sp>
      <p:sp>
        <p:nvSpPr>
          <p:cNvPr id="10" name="Text 8"/>
          <p:cNvSpPr/>
          <p:nvPr/>
        </p:nvSpPr>
        <p:spPr>
          <a:xfrm>
            <a:off x="2514600" y="1143000"/>
            <a:ext cx="2057400" cy="292608"/>
          </a:xfrm>
          <a:prstGeom prst="rect">
            <a:avLst/>
          </a:prstGeom>
          <a:noFill/>
          <a:ln/>
        </p:spPr>
        <p:txBody>
          <a:bodyPr wrap="square" lIns="0" tIns="0" rIns="0" bIns="0" rtlCol="0" anchor="ctr"/>
          <a:lstStyle/>
          <a:p>
            <a:pPr indent="0" marL="0">
              <a:buNone/>
            </a:pPr>
            <a:r>
              <a:rPr lang="en-US" sz="850" b="1" dirty="0">
                <a:solidFill>
                  <a:srgbClr val="94A3B8"/>
                </a:solidFill>
              </a:rPr>
              <a:t>AI Output</a:t>
            </a:r>
            <a:endParaRPr lang="en-US" sz="850" dirty="0"/>
          </a:p>
        </p:txBody>
      </p:sp>
      <p:sp>
        <p:nvSpPr>
          <p:cNvPr id="11" name="Text 9"/>
          <p:cNvSpPr/>
          <p:nvPr/>
        </p:nvSpPr>
        <p:spPr>
          <a:xfrm>
            <a:off x="4617720" y="1143000"/>
            <a:ext cx="548640" cy="292608"/>
          </a:xfrm>
          <a:prstGeom prst="rect">
            <a:avLst/>
          </a:prstGeom>
          <a:noFill/>
          <a:ln/>
        </p:spPr>
        <p:txBody>
          <a:bodyPr wrap="square" lIns="0" tIns="0" rIns="0" bIns="0" rtlCol="0" anchor="ctr"/>
          <a:lstStyle/>
          <a:p>
            <a:pPr indent="0" marL="0">
              <a:buNone/>
            </a:pPr>
            <a:r>
              <a:rPr lang="en-US" sz="850" b="1" dirty="0">
                <a:solidFill>
                  <a:srgbClr val="94A3B8"/>
                </a:solidFill>
              </a:rPr>
              <a:t>Score</a:t>
            </a:r>
            <a:endParaRPr lang="en-US" sz="850" dirty="0"/>
          </a:p>
        </p:txBody>
      </p:sp>
      <p:sp>
        <p:nvSpPr>
          <p:cNvPr id="12" name="Text 10"/>
          <p:cNvSpPr/>
          <p:nvPr/>
        </p:nvSpPr>
        <p:spPr>
          <a:xfrm>
            <a:off x="5212080" y="1143000"/>
            <a:ext cx="502920" cy="292608"/>
          </a:xfrm>
          <a:prstGeom prst="rect">
            <a:avLst/>
          </a:prstGeom>
          <a:noFill/>
          <a:ln/>
        </p:spPr>
        <p:txBody>
          <a:bodyPr wrap="square" lIns="0" tIns="0" rIns="0" bIns="0" rtlCol="0" anchor="ctr"/>
          <a:lstStyle/>
          <a:p>
            <a:pPr indent="0" marL="0">
              <a:buNone/>
            </a:pPr>
            <a:r>
              <a:rPr lang="en-US" sz="850" b="1" dirty="0">
                <a:solidFill>
                  <a:srgbClr val="94A3B8"/>
                </a:solidFill>
              </a:rPr>
              <a:t>Time</a:t>
            </a:r>
            <a:endParaRPr lang="en-US" sz="850" dirty="0"/>
          </a:p>
        </p:txBody>
      </p:sp>
      <p:sp>
        <p:nvSpPr>
          <p:cNvPr id="13" name="Shape 11"/>
          <p:cNvSpPr/>
          <p:nvPr/>
        </p:nvSpPr>
        <p:spPr>
          <a:xfrm>
            <a:off x="365760" y="1435608"/>
            <a:ext cx="5394960" cy="475488"/>
          </a:xfrm>
          <a:prstGeom prst="rect">
            <a:avLst/>
          </a:prstGeom>
          <a:solidFill>
            <a:srgbClr val="1E293B"/>
          </a:solidFill>
          <a:ln w="12700">
            <a:solidFill>
              <a:srgbClr val="1E293B"/>
            </a:solidFill>
            <a:prstDash val="solid"/>
          </a:ln>
        </p:spPr>
      </p:sp>
      <p:sp>
        <p:nvSpPr>
          <p:cNvPr id="14" name="Text 12"/>
          <p:cNvSpPr/>
          <p:nvPr/>
        </p:nvSpPr>
        <p:spPr>
          <a:xfrm>
            <a:off x="411480" y="1527048"/>
            <a:ext cx="777240" cy="292608"/>
          </a:xfrm>
          <a:prstGeom prst="rect">
            <a:avLst/>
          </a:prstGeom>
          <a:noFill/>
          <a:ln/>
        </p:spPr>
        <p:txBody>
          <a:bodyPr wrap="square" lIns="0" tIns="0" rIns="0" bIns="0" rtlCol="0" anchor="ctr"/>
          <a:lstStyle/>
          <a:p>
            <a:pPr indent="0" marL="0">
              <a:buNone/>
            </a:pPr>
            <a:r>
              <a:rPr lang="en-US" sz="900" dirty="0">
                <a:solidFill>
                  <a:srgbClr val="CBD5E1"/>
                </a:solidFill>
              </a:rPr>
              <a:t>TRC-0041</a:t>
            </a:r>
            <a:endParaRPr lang="en-US" sz="900" dirty="0"/>
          </a:p>
        </p:txBody>
      </p:sp>
      <p:sp>
        <p:nvSpPr>
          <p:cNvPr id="15" name="Text 13"/>
          <p:cNvSpPr/>
          <p:nvPr/>
        </p:nvSpPr>
        <p:spPr>
          <a:xfrm>
            <a:off x="1234440" y="1527048"/>
            <a:ext cx="1234440" cy="292608"/>
          </a:xfrm>
          <a:prstGeom prst="rect">
            <a:avLst/>
          </a:prstGeom>
          <a:noFill/>
          <a:ln/>
        </p:spPr>
        <p:txBody>
          <a:bodyPr wrap="square" lIns="0" tIns="0" rIns="0" bIns="0" rtlCol="0" anchor="ctr"/>
          <a:lstStyle/>
          <a:p>
            <a:pPr indent="0" marL="0">
              <a:buNone/>
            </a:pPr>
            <a:r>
              <a:rPr lang="en-US" sz="900" dirty="0">
                <a:solidFill>
                  <a:srgbClr val="CBD5E1"/>
                </a:solidFill>
              </a:rPr>
              <a:t>No-show Mon BH</a:t>
            </a:r>
            <a:endParaRPr lang="en-US" sz="900" dirty="0"/>
          </a:p>
        </p:txBody>
      </p:sp>
      <p:sp>
        <p:nvSpPr>
          <p:cNvPr id="16" name="Text 14"/>
          <p:cNvSpPr/>
          <p:nvPr/>
        </p:nvSpPr>
        <p:spPr>
          <a:xfrm>
            <a:off x="2514600" y="1527048"/>
            <a:ext cx="2057400" cy="292608"/>
          </a:xfrm>
          <a:prstGeom prst="rect">
            <a:avLst/>
          </a:prstGeom>
          <a:noFill/>
          <a:ln/>
        </p:spPr>
        <p:txBody>
          <a:bodyPr wrap="square" lIns="0" tIns="0" rIns="0" bIns="0" rtlCol="0" anchor="ctr"/>
          <a:lstStyle/>
          <a:p>
            <a:pPr indent="0" marL="0">
              <a:buNone/>
            </a:pPr>
            <a:r>
              <a:rPr lang="en-US" sz="850" dirty="0">
                <a:solidFill>
                  <a:srgbClr val="CBD5E1"/>
                </a:solidFill>
              </a:rPr>
              <a:t>41% rate, BH specialty</a:t>
            </a:r>
            <a:endParaRPr lang="en-US" sz="850" dirty="0"/>
          </a:p>
        </p:txBody>
      </p:sp>
      <p:sp>
        <p:nvSpPr>
          <p:cNvPr id="17" name="Text 15"/>
          <p:cNvSpPr/>
          <p:nvPr/>
        </p:nvSpPr>
        <p:spPr>
          <a:xfrm>
            <a:off x="4617720" y="1527048"/>
            <a:ext cx="548640" cy="292608"/>
          </a:xfrm>
          <a:prstGeom prst="rect">
            <a:avLst/>
          </a:prstGeom>
          <a:noFill/>
          <a:ln/>
        </p:spPr>
        <p:txBody>
          <a:bodyPr wrap="square" lIns="0" tIns="0" rIns="0" bIns="0" rtlCol="0" anchor="ctr"/>
          <a:lstStyle/>
          <a:p>
            <a:pPr indent="0" marL="0">
              <a:buNone/>
            </a:pPr>
            <a:r>
              <a:rPr lang="en-US" sz="900" dirty="0">
                <a:solidFill>
                  <a:srgbClr val="4ADE80"/>
                </a:solidFill>
              </a:rPr>
              <a:t>✅ 0.94</a:t>
            </a:r>
            <a:endParaRPr lang="en-US" sz="900" dirty="0"/>
          </a:p>
        </p:txBody>
      </p:sp>
      <p:sp>
        <p:nvSpPr>
          <p:cNvPr id="18" name="Text 16"/>
          <p:cNvSpPr/>
          <p:nvPr/>
        </p:nvSpPr>
        <p:spPr>
          <a:xfrm>
            <a:off x="5212080" y="1527048"/>
            <a:ext cx="502920" cy="292608"/>
          </a:xfrm>
          <a:prstGeom prst="rect">
            <a:avLst/>
          </a:prstGeom>
          <a:noFill/>
          <a:ln/>
        </p:spPr>
        <p:txBody>
          <a:bodyPr wrap="square" lIns="0" tIns="0" rIns="0" bIns="0" rtlCol="0" anchor="ctr"/>
          <a:lstStyle/>
          <a:p>
            <a:pPr indent="0" marL="0">
              <a:buNone/>
            </a:pPr>
            <a:r>
              <a:rPr lang="en-US" sz="900" dirty="0">
                <a:solidFill>
                  <a:srgbClr val="CBD5E1"/>
                </a:solidFill>
              </a:rPr>
              <a:t>09:02</a:t>
            </a:r>
            <a:endParaRPr lang="en-US" sz="900" dirty="0"/>
          </a:p>
        </p:txBody>
      </p:sp>
      <p:sp>
        <p:nvSpPr>
          <p:cNvPr id="19" name="Shape 17"/>
          <p:cNvSpPr/>
          <p:nvPr/>
        </p:nvSpPr>
        <p:spPr>
          <a:xfrm>
            <a:off x="365760" y="1911096"/>
            <a:ext cx="5394960" cy="475488"/>
          </a:xfrm>
          <a:prstGeom prst="rect">
            <a:avLst/>
          </a:prstGeom>
          <a:solidFill>
            <a:srgbClr val="172032"/>
          </a:solidFill>
          <a:ln w="12700">
            <a:solidFill>
              <a:srgbClr val="1E293B"/>
            </a:solidFill>
            <a:prstDash val="solid"/>
          </a:ln>
        </p:spPr>
      </p:sp>
      <p:sp>
        <p:nvSpPr>
          <p:cNvPr id="20" name="Text 18"/>
          <p:cNvSpPr/>
          <p:nvPr/>
        </p:nvSpPr>
        <p:spPr>
          <a:xfrm>
            <a:off x="411480" y="2002536"/>
            <a:ext cx="777240" cy="292608"/>
          </a:xfrm>
          <a:prstGeom prst="rect">
            <a:avLst/>
          </a:prstGeom>
          <a:noFill/>
          <a:ln/>
        </p:spPr>
        <p:txBody>
          <a:bodyPr wrap="square" lIns="0" tIns="0" rIns="0" bIns="0" rtlCol="0" anchor="ctr"/>
          <a:lstStyle/>
          <a:p>
            <a:pPr indent="0" marL="0">
              <a:buNone/>
            </a:pPr>
            <a:r>
              <a:rPr lang="en-US" sz="900" dirty="0">
                <a:solidFill>
                  <a:srgbClr val="CBD5E1"/>
                </a:solidFill>
              </a:rPr>
              <a:t>TRC-0042</a:t>
            </a:r>
            <a:endParaRPr lang="en-US" sz="900" dirty="0"/>
          </a:p>
        </p:txBody>
      </p:sp>
      <p:sp>
        <p:nvSpPr>
          <p:cNvPr id="21" name="Text 19"/>
          <p:cNvSpPr/>
          <p:nvPr/>
        </p:nvSpPr>
        <p:spPr>
          <a:xfrm>
            <a:off x="1234440" y="2002536"/>
            <a:ext cx="1234440" cy="292608"/>
          </a:xfrm>
          <a:prstGeom prst="rect">
            <a:avLst/>
          </a:prstGeom>
          <a:noFill/>
          <a:ln/>
        </p:spPr>
        <p:txBody>
          <a:bodyPr wrap="square" lIns="0" tIns="0" rIns="0" bIns="0" rtlCol="0" anchor="ctr"/>
          <a:lstStyle/>
          <a:p>
            <a:pPr indent="0" marL="0">
              <a:buNone/>
            </a:pPr>
            <a:r>
              <a:rPr lang="en-US" sz="900" dirty="0">
                <a:solidFill>
                  <a:srgbClr val="CBD5E1"/>
                </a:solidFill>
              </a:rPr>
              <a:t>Provider util.</a:t>
            </a:r>
            <a:endParaRPr lang="en-US" sz="900" dirty="0"/>
          </a:p>
        </p:txBody>
      </p:sp>
      <p:sp>
        <p:nvSpPr>
          <p:cNvPr id="22" name="Text 20"/>
          <p:cNvSpPr/>
          <p:nvPr/>
        </p:nvSpPr>
        <p:spPr>
          <a:xfrm>
            <a:off x="2514600" y="2002536"/>
            <a:ext cx="2057400" cy="292608"/>
          </a:xfrm>
          <a:prstGeom prst="rect">
            <a:avLst/>
          </a:prstGeom>
          <a:noFill/>
          <a:ln/>
        </p:spPr>
        <p:txBody>
          <a:bodyPr wrap="square" lIns="0" tIns="0" rIns="0" bIns="0" rtlCol="0" anchor="ctr"/>
          <a:lstStyle/>
          <a:p>
            <a:pPr indent="0" marL="0">
              <a:buNone/>
            </a:pPr>
            <a:r>
              <a:rPr lang="en-US" sz="850" dirty="0">
                <a:solidFill>
                  <a:srgbClr val="CBD5E1"/>
                </a:solidFill>
              </a:rPr>
              <a:t>3 overloaded, 4 underused</a:t>
            </a:r>
            <a:endParaRPr lang="en-US" sz="850" dirty="0"/>
          </a:p>
        </p:txBody>
      </p:sp>
      <p:sp>
        <p:nvSpPr>
          <p:cNvPr id="23" name="Text 21"/>
          <p:cNvSpPr/>
          <p:nvPr/>
        </p:nvSpPr>
        <p:spPr>
          <a:xfrm>
            <a:off x="4617720" y="2002536"/>
            <a:ext cx="548640" cy="292608"/>
          </a:xfrm>
          <a:prstGeom prst="rect">
            <a:avLst/>
          </a:prstGeom>
          <a:noFill/>
          <a:ln/>
        </p:spPr>
        <p:txBody>
          <a:bodyPr wrap="square" lIns="0" tIns="0" rIns="0" bIns="0" rtlCol="0" anchor="ctr"/>
          <a:lstStyle/>
          <a:p>
            <a:pPr indent="0" marL="0">
              <a:buNone/>
            </a:pPr>
            <a:r>
              <a:rPr lang="en-US" sz="900" dirty="0">
                <a:solidFill>
                  <a:srgbClr val="4ADE80"/>
                </a:solidFill>
              </a:rPr>
              <a:t>✅ 0.91</a:t>
            </a:r>
            <a:endParaRPr lang="en-US" sz="900" dirty="0"/>
          </a:p>
        </p:txBody>
      </p:sp>
      <p:sp>
        <p:nvSpPr>
          <p:cNvPr id="24" name="Text 22"/>
          <p:cNvSpPr/>
          <p:nvPr/>
        </p:nvSpPr>
        <p:spPr>
          <a:xfrm>
            <a:off x="5212080" y="2002536"/>
            <a:ext cx="502920" cy="292608"/>
          </a:xfrm>
          <a:prstGeom prst="rect">
            <a:avLst/>
          </a:prstGeom>
          <a:noFill/>
          <a:ln/>
        </p:spPr>
        <p:txBody>
          <a:bodyPr wrap="square" lIns="0" tIns="0" rIns="0" bIns="0" rtlCol="0" anchor="ctr"/>
          <a:lstStyle/>
          <a:p>
            <a:pPr indent="0" marL="0">
              <a:buNone/>
            </a:pPr>
            <a:r>
              <a:rPr lang="en-US" sz="900" dirty="0">
                <a:solidFill>
                  <a:srgbClr val="CBD5E1"/>
                </a:solidFill>
              </a:rPr>
              <a:t>09:02</a:t>
            </a:r>
            <a:endParaRPr lang="en-US" sz="900" dirty="0"/>
          </a:p>
        </p:txBody>
      </p:sp>
      <p:sp>
        <p:nvSpPr>
          <p:cNvPr id="25" name="Shape 23"/>
          <p:cNvSpPr/>
          <p:nvPr/>
        </p:nvSpPr>
        <p:spPr>
          <a:xfrm>
            <a:off x="365760" y="2386584"/>
            <a:ext cx="5394960" cy="475488"/>
          </a:xfrm>
          <a:prstGeom prst="rect">
            <a:avLst/>
          </a:prstGeom>
          <a:solidFill>
            <a:srgbClr val="1E293B"/>
          </a:solidFill>
          <a:ln w="12700">
            <a:solidFill>
              <a:srgbClr val="1E293B"/>
            </a:solidFill>
            <a:prstDash val="solid"/>
          </a:ln>
        </p:spPr>
      </p:sp>
      <p:sp>
        <p:nvSpPr>
          <p:cNvPr id="26" name="Text 24"/>
          <p:cNvSpPr/>
          <p:nvPr/>
        </p:nvSpPr>
        <p:spPr>
          <a:xfrm>
            <a:off x="411480" y="2478024"/>
            <a:ext cx="777240" cy="292608"/>
          </a:xfrm>
          <a:prstGeom prst="rect">
            <a:avLst/>
          </a:prstGeom>
          <a:noFill/>
          <a:ln/>
        </p:spPr>
        <p:txBody>
          <a:bodyPr wrap="square" lIns="0" tIns="0" rIns="0" bIns="0" rtlCol="0" anchor="ctr"/>
          <a:lstStyle/>
          <a:p>
            <a:pPr indent="0" marL="0">
              <a:buNone/>
            </a:pPr>
            <a:r>
              <a:rPr lang="en-US" sz="900" dirty="0">
                <a:solidFill>
                  <a:srgbClr val="CBD5E1"/>
                </a:solidFill>
              </a:rPr>
              <a:t>TRC-0043</a:t>
            </a:r>
            <a:endParaRPr lang="en-US" sz="900" dirty="0"/>
          </a:p>
        </p:txBody>
      </p:sp>
      <p:sp>
        <p:nvSpPr>
          <p:cNvPr id="27" name="Text 25"/>
          <p:cNvSpPr/>
          <p:nvPr/>
        </p:nvSpPr>
        <p:spPr>
          <a:xfrm>
            <a:off x="1234440" y="2478024"/>
            <a:ext cx="1234440" cy="292608"/>
          </a:xfrm>
          <a:prstGeom prst="rect">
            <a:avLst/>
          </a:prstGeom>
          <a:noFill/>
          <a:ln/>
        </p:spPr>
        <p:txBody>
          <a:bodyPr wrap="square" lIns="0" tIns="0" rIns="0" bIns="0" rtlCol="0" anchor="ctr"/>
          <a:lstStyle/>
          <a:p>
            <a:pPr indent="0" marL="0">
              <a:buNone/>
            </a:pPr>
            <a:r>
              <a:rPr lang="en-US" sz="900" dirty="0">
                <a:solidFill>
                  <a:srgbClr val="CBD5E1"/>
                </a:solidFill>
              </a:rPr>
              <a:t>Reminder effect</a:t>
            </a:r>
            <a:endParaRPr lang="en-US" sz="900" dirty="0"/>
          </a:p>
        </p:txBody>
      </p:sp>
      <p:sp>
        <p:nvSpPr>
          <p:cNvPr id="28" name="Text 26"/>
          <p:cNvSpPr/>
          <p:nvPr/>
        </p:nvSpPr>
        <p:spPr>
          <a:xfrm>
            <a:off x="2514600" y="2478024"/>
            <a:ext cx="2057400" cy="292608"/>
          </a:xfrm>
          <a:prstGeom prst="rect">
            <a:avLst/>
          </a:prstGeom>
          <a:noFill/>
          <a:ln/>
        </p:spPr>
        <p:txBody>
          <a:bodyPr wrap="square" lIns="0" tIns="0" rIns="0" bIns="0" rtlCol="0" anchor="ctr"/>
          <a:lstStyle/>
          <a:p>
            <a:pPr indent="0" marL="0">
              <a:buNone/>
            </a:pPr>
            <a:r>
              <a:rPr lang="en-US" sz="850" dirty="0">
                <a:solidFill>
                  <a:srgbClr val="CBD5E1"/>
                </a:solidFill>
              </a:rPr>
              <a:t>8.3pp reduction confirmed</a:t>
            </a:r>
            <a:endParaRPr lang="en-US" sz="850" dirty="0"/>
          </a:p>
        </p:txBody>
      </p:sp>
      <p:sp>
        <p:nvSpPr>
          <p:cNvPr id="29" name="Text 27"/>
          <p:cNvSpPr/>
          <p:nvPr/>
        </p:nvSpPr>
        <p:spPr>
          <a:xfrm>
            <a:off x="4617720" y="2478024"/>
            <a:ext cx="548640" cy="292608"/>
          </a:xfrm>
          <a:prstGeom prst="rect">
            <a:avLst/>
          </a:prstGeom>
          <a:noFill/>
          <a:ln/>
        </p:spPr>
        <p:txBody>
          <a:bodyPr wrap="square" lIns="0" tIns="0" rIns="0" bIns="0" rtlCol="0" anchor="ctr"/>
          <a:lstStyle/>
          <a:p>
            <a:pPr indent="0" marL="0">
              <a:buNone/>
            </a:pPr>
            <a:r>
              <a:rPr lang="en-US" sz="900" dirty="0">
                <a:solidFill>
                  <a:srgbClr val="4ADE80"/>
                </a:solidFill>
              </a:rPr>
              <a:t>✅ 0.96</a:t>
            </a:r>
            <a:endParaRPr lang="en-US" sz="900" dirty="0"/>
          </a:p>
        </p:txBody>
      </p:sp>
      <p:sp>
        <p:nvSpPr>
          <p:cNvPr id="30" name="Text 28"/>
          <p:cNvSpPr/>
          <p:nvPr/>
        </p:nvSpPr>
        <p:spPr>
          <a:xfrm>
            <a:off x="5212080" y="2478024"/>
            <a:ext cx="502920" cy="292608"/>
          </a:xfrm>
          <a:prstGeom prst="rect">
            <a:avLst/>
          </a:prstGeom>
          <a:noFill/>
          <a:ln/>
        </p:spPr>
        <p:txBody>
          <a:bodyPr wrap="square" lIns="0" tIns="0" rIns="0" bIns="0" rtlCol="0" anchor="ctr"/>
          <a:lstStyle/>
          <a:p>
            <a:pPr indent="0" marL="0">
              <a:buNone/>
            </a:pPr>
            <a:r>
              <a:rPr lang="en-US" sz="900" dirty="0">
                <a:solidFill>
                  <a:srgbClr val="CBD5E1"/>
                </a:solidFill>
              </a:rPr>
              <a:t>09:03</a:t>
            </a:r>
            <a:endParaRPr lang="en-US" sz="900" dirty="0"/>
          </a:p>
        </p:txBody>
      </p:sp>
      <p:sp>
        <p:nvSpPr>
          <p:cNvPr id="31" name="Shape 29"/>
          <p:cNvSpPr/>
          <p:nvPr/>
        </p:nvSpPr>
        <p:spPr>
          <a:xfrm>
            <a:off x="365760" y="2862072"/>
            <a:ext cx="5394960" cy="475488"/>
          </a:xfrm>
          <a:prstGeom prst="rect">
            <a:avLst/>
          </a:prstGeom>
          <a:solidFill>
            <a:srgbClr val="172032"/>
          </a:solidFill>
          <a:ln w="12700">
            <a:solidFill>
              <a:srgbClr val="1E293B"/>
            </a:solidFill>
            <a:prstDash val="solid"/>
          </a:ln>
        </p:spPr>
      </p:sp>
      <p:sp>
        <p:nvSpPr>
          <p:cNvPr id="32" name="Text 30"/>
          <p:cNvSpPr/>
          <p:nvPr/>
        </p:nvSpPr>
        <p:spPr>
          <a:xfrm>
            <a:off x="411480" y="2953512"/>
            <a:ext cx="777240" cy="292608"/>
          </a:xfrm>
          <a:prstGeom prst="rect">
            <a:avLst/>
          </a:prstGeom>
          <a:noFill/>
          <a:ln/>
        </p:spPr>
        <p:txBody>
          <a:bodyPr wrap="square" lIns="0" tIns="0" rIns="0" bIns="0" rtlCol="0" anchor="ctr"/>
          <a:lstStyle/>
          <a:p>
            <a:pPr indent="0" marL="0">
              <a:buNone/>
            </a:pPr>
            <a:r>
              <a:rPr lang="en-US" sz="900" dirty="0">
                <a:solidFill>
                  <a:srgbClr val="CBD5E1"/>
                </a:solidFill>
              </a:rPr>
              <a:t>TRC-0044</a:t>
            </a:r>
            <a:endParaRPr lang="en-US" sz="900" dirty="0"/>
          </a:p>
        </p:txBody>
      </p:sp>
      <p:sp>
        <p:nvSpPr>
          <p:cNvPr id="33" name="Text 31"/>
          <p:cNvSpPr/>
          <p:nvPr/>
        </p:nvSpPr>
        <p:spPr>
          <a:xfrm>
            <a:off x="1234440" y="2953512"/>
            <a:ext cx="1234440" cy="292608"/>
          </a:xfrm>
          <a:prstGeom prst="rect">
            <a:avLst/>
          </a:prstGeom>
          <a:noFill/>
          <a:ln/>
        </p:spPr>
        <p:txBody>
          <a:bodyPr wrap="square" lIns="0" tIns="0" rIns="0" bIns="0" rtlCol="0" anchor="ctr"/>
          <a:lstStyle/>
          <a:p>
            <a:pPr indent="0" marL="0">
              <a:buNone/>
            </a:pPr>
            <a:r>
              <a:rPr lang="en-US" sz="900" dirty="0">
                <a:solidFill>
                  <a:srgbClr val="CBD5E1"/>
                </a:solidFill>
              </a:rPr>
              <a:t>Wait time spike</a:t>
            </a:r>
            <a:endParaRPr lang="en-US" sz="900" dirty="0"/>
          </a:p>
        </p:txBody>
      </p:sp>
      <p:sp>
        <p:nvSpPr>
          <p:cNvPr id="34" name="Text 32"/>
          <p:cNvSpPr/>
          <p:nvPr/>
        </p:nvSpPr>
        <p:spPr>
          <a:xfrm>
            <a:off x="2514600" y="2953512"/>
            <a:ext cx="2057400" cy="292608"/>
          </a:xfrm>
          <a:prstGeom prst="rect">
            <a:avLst/>
          </a:prstGeom>
          <a:noFill/>
          <a:ln/>
        </p:spPr>
        <p:txBody>
          <a:bodyPr wrap="square" lIns="0" tIns="0" rIns="0" bIns="0" rtlCol="0" anchor="ctr"/>
          <a:lstStyle/>
          <a:p>
            <a:pPr indent="0" marL="0">
              <a:buNone/>
            </a:pPr>
            <a:r>
              <a:rPr lang="en-US" sz="850" dirty="0">
                <a:solidFill>
                  <a:srgbClr val="CBD5E1"/>
                </a:solidFill>
              </a:rPr>
              <a:t>Wed 14:00 slot +11 min</a:t>
            </a:r>
            <a:endParaRPr lang="en-US" sz="850" dirty="0"/>
          </a:p>
        </p:txBody>
      </p:sp>
      <p:sp>
        <p:nvSpPr>
          <p:cNvPr id="35" name="Text 33"/>
          <p:cNvSpPr/>
          <p:nvPr/>
        </p:nvSpPr>
        <p:spPr>
          <a:xfrm>
            <a:off x="4617720" y="2953512"/>
            <a:ext cx="548640" cy="292608"/>
          </a:xfrm>
          <a:prstGeom prst="rect">
            <a:avLst/>
          </a:prstGeom>
          <a:noFill/>
          <a:ln/>
        </p:spPr>
        <p:txBody>
          <a:bodyPr wrap="square" lIns="0" tIns="0" rIns="0" bIns="0" rtlCol="0" anchor="ctr"/>
          <a:lstStyle/>
          <a:p>
            <a:pPr indent="0" marL="0">
              <a:buNone/>
            </a:pPr>
            <a:r>
              <a:rPr lang="en-US" sz="900" dirty="0">
                <a:solidFill>
                  <a:srgbClr val="4ADE80"/>
                </a:solidFill>
              </a:rPr>
              <a:t>✅ 0.88</a:t>
            </a:r>
            <a:endParaRPr lang="en-US" sz="900" dirty="0"/>
          </a:p>
        </p:txBody>
      </p:sp>
      <p:sp>
        <p:nvSpPr>
          <p:cNvPr id="36" name="Text 34"/>
          <p:cNvSpPr/>
          <p:nvPr/>
        </p:nvSpPr>
        <p:spPr>
          <a:xfrm>
            <a:off x="5212080" y="2953512"/>
            <a:ext cx="502920" cy="292608"/>
          </a:xfrm>
          <a:prstGeom prst="rect">
            <a:avLst/>
          </a:prstGeom>
          <a:noFill/>
          <a:ln/>
        </p:spPr>
        <p:txBody>
          <a:bodyPr wrap="square" lIns="0" tIns="0" rIns="0" bIns="0" rtlCol="0" anchor="ctr"/>
          <a:lstStyle/>
          <a:p>
            <a:pPr indent="0" marL="0">
              <a:buNone/>
            </a:pPr>
            <a:r>
              <a:rPr lang="en-US" sz="900" dirty="0">
                <a:solidFill>
                  <a:srgbClr val="CBD5E1"/>
                </a:solidFill>
              </a:rPr>
              <a:t>09:04</a:t>
            </a:r>
            <a:endParaRPr lang="en-US" sz="900" dirty="0"/>
          </a:p>
        </p:txBody>
      </p:sp>
      <p:sp>
        <p:nvSpPr>
          <p:cNvPr id="37" name="Shape 35"/>
          <p:cNvSpPr/>
          <p:nvPr/>
        </p:nvSpPr>
        <p:spPr>
          <a:xfrm>
            <a:off x="365760" y="3337560"/>
            <a:ext cx="5394960" cy="475488"/>
          </a:xfrm>
          <a:prstGeom prst="rect">
            <a:avLst/>
          </a:prstGeom>
          <a:solidFill>
            <a:srgbClr val="1E293B"/>
          </a:solidFill>
          <a:ln w="12700">
            <a:solidFill>
              <a:srgbClr val="1E293B"/>
            </a:solidFill>
            <a:prstDash val="solid"/>
          </a:ln>
        </p:spPr>
      </p:sp>
      <p:sp>
        <p:nvSpPr>
          <p:cNvPr id="38" name="Text 36"/>
          <p:cNvSpPr/>
          <p:nvPr/>
        </p:nvSpPr>
        <p:spPr>
          <a:xfrm>
            <a:off x="411480" y="3429000"/>
            <a:ext cx="777240" cy="292608"/>
          </a:xfrm>
          <a:prstGeom prst="rect">
            <a:avLst/>
          </a:prstGeom>
          <a:noFill/>
          <a:ln/>
        </p:spPr>
        <p:txBody>
          <a:bodyPr wrap="square" lIns="0" tIns="0" rIns="0" bIns="0" rtlCol="0" anchor="ctr"/>
          <a:lstStyle/>
          <a:p>
            <a:pPr indent="0" marL="0">
              <a:buNone/>
            </a:pPr>
            <a:r>
              <a:rPr lang="en-US" sz="900" dirty="0">
                <a:solidFill>
                  <a:srgbClr val="CBD5E1"/>
                </a:solidFill>
              </a:rPr>
              <a:t>TRC-0045</a:t>
            </a:r>
            <a:endParaRPr lang="en-US" sz="900" dirty="0"/>
          </a:p>
        </p:txBody>
      </p:sp>
      <p:sp>
        <p:nvSpPr>
          <p:cNvPr id="39" name="Text 37"/>
          <p:cNvSpPr/>
          <p:nvPr/>
        </p:nvSpPr>
        <p:spPr>
          <a:xfrm>
            <a:off x="1234440" y="3429000"/>
            <a:ext cx="1234440" cy="292608"/>
          </a:xfrm>
          <a:prstGeom prst="rect">
            <a:avLst/>
          </a:prstGeom>
          <a:noFill/>
          <a:ln/>
        </p:spPr>
        <p:txBody>
          <a:bodyPr wrap="square" lIns="0" tIns="0" rIns="0" bIns="0" rtlCol="0" anchor="ctr"/>
          <a:lstStyle/>
          <a:p>
            <a:pPr indent="0" marL="0">
              <a:buNone/>
            </a:pPr>
            <a:r>
              <a:rPr lang="en-US" sz="900" dirty="0">
                <a:solidFill>
                  <a:srgbClr val="CBD5E1"/>
                </a:solidFill>
              </a:rPr>
              <a:t>Lead time pattern</a:t>
            </a:r>
            <a:endParaRPr lang="en-US" sz="900" dirty="0"/>
          </a:p>
        </p:txBody>
      </p:sp>
      <p:sp>
        <p:nvSpPr>
          <p:cNvPr id="40" name="Text 38"/>
          <p:cNvSpPr/>
          <p:nvPr/>
        </p:nvSpPr>
        <p:spPr>
          <a:xfrm>
            <a:off x="2514600" y="3429000"/>
            <a:ext cx="2057400" cy="292608"/>
          </a:xfrm>
          <a:prstGeom prst="rect">
            <a:avLst/>
          </a:prstGeom>
          <a:noFill/>
          <a:ln/>
        </p:spPr>
        <p:txBody>
          <a:bodyPr wrap="square" lIns="0" tIns="0" rIns="0" bIns="0" rtlCol="0" anchor="ctr"/>
          <a:lstStyle/>
          <a:p>
            <a:pPr indent="0" marL="0">
              <a:buNone/>
            </a:pPr>
            <a:r>
              <a:rPr lang="en-US" sz="850" dirty="0">
                <a:solidFill>
                  <a:srgbClr val="CBD5E1"/>
                </a:solidFill>
              </a:rPr>
              <a:t>BH avg 22 days vs 9 avg</a:t>
            </a:r>
            <a:endParaRPr lang="en-US" sz="850" dirty="0"/>
          </a:p>
        </p:txBody>
      </p:sp>
      <p:sp>
        <p:nvSpPr>
          <p:cNvPr id="41" name="Text 39"/>
          <p:cNvSpPr/>
          <p:nvPr/>
        </p:nvSpPr>
        <p:spPr>
          <a:xfrm>
            <a:off x="4617720" y="3429000"/>
            <a:ext cx="548640" cy="292608"/>
          </a:xfrm>
          <a:prstGeom prst="rect">
            <a:avLst/>
          </a:prstGeom>
          <a:noFill/>
          <a:ln/>
        </p:spPr>
        <p:txBody>
          <a:bodyPr wrap="square" lIns="0" tIns="0" rIns="0" bIns="0" rtlCol="0" anchor="ctr"/>
          <a:lstStyle/>
          <a:p>
            <a:pPr indent="0" marL="0">
              <a:buNone/>
            </a:pPr>
            <a:r>
              <a:rPr lang="en-US" sz="900" dirty="0">
                <a:solidFill>
                  <a:srgbClr val="4ADE80"/>
                </a:solidFill>
              </a:rPr>
              <a:t>✅ 0.93</a:t>
            </a:r>
            <a:endParaRPr lang="en-US" sz="900" dirty="0"/>
          </a:p>
        </p:txBody>
      </p:sp>
      <p:sp>
        <p:nvSpPr>
          <p:cNvPr id="42" name="Text 40"/>
          <p:cNvSpPr/>
          <p:nvPr/>
        </p:nvSpPr>
        <p:spPr>
          <a:xfrm>
            <a:off x="5212080" y="3429000"/>
            <a:ext cx="502920" cy="292608"/>
          </a:xfrm>
          <a:prstGeom prst="rect">
            <a:avLst/>
          </a:prstGeom>
          <a:noFill/>
          <a:ln/>
        </p:spPr>
        <p:txBody>
          <a:bodyPr wrap="square" lIns="0" tIns="0" rIns="0" bIns="0" rtlCol="0" anchor="ctr"/>
          <a:lstStyle/>
          <a:p>
            <a:pPr indent="0" marL="0">
              <a:buNone/>
            </a:pPr>
            <a:r>
              <a:rPr lang="en-US" sz="900" dirty="0">
                <a:solidFill>
                  <a:srgbClr val="CBD5E1"/>
                </a:solidFill>
              </a:rPr>
              <a:t>09:05</a:t>
            </a:r>
            <a:endParaRPr lang="en-US" sz="900" dirty="0"/>
          </a:p>
        </p:txBody>
      </p:sp>
      <p:sp>
        <p:nvSpPr>
          <p:cNvPr id="43" name="Shape 41"/>
          <p:cNvSpPr/>
          <p:nvPr/>
        </p:nvSpPr>
        <p:spPr>
          <a:xfrm>
            <a:off x="365760" y="3840480"/>
            <a:ext cx="5394960" cy="320040"/>
          </a:xfrm>
          <a:prstGeom prst="rect">
            <a:avLst/>
          </a:prstGeom>
          <a:solidFill>
            <a:srgbClr val="0F172A"/>
          </a:solidFill>
          <a:ln w="12700">
            <a:solidFill>
              <a:srgbClr val="1E293B"/>
            </a:solidFill>
            <a:prstDash val="solid"/>
          </a:ln>
        </p:spPr>
      </p:sp>
      <p:sp>
        <p:nvSpPr>
          <p:cNvPr id="44" name="Text 42"/>
          <p:cNvSpPr/>
          <p:nvPr/>
        </p:nvSpPr>
        <p:spPr>
          <a:xfrm>
            <a:off x="365760" y="3840480"/>
            <a:ext cx="5394960" cy="320040"/>
          </a:xfrm>
          <a:prstGeom prst="rect">
            <a:avLst/>
          </a:prstGeom>
          <a:noFill/>
          <a:ln/>
        </p:spPr>
        <p:txBody>
          <a:bodyPr wrap="square" lIns="0" tIns="0" rIns="0" bIns="0" rtlCol="0" anchor="ctr"/>
          <a:lstStyle/>
          <a:p>
            <a:pPr algn="ctr" indent="0" marL="0">
              <a:buNone/>
            </a:pPr>
            <a:r>
              <a:rPr lang="en-US" sz="850" i="1" dirty="0">
                <a:solidFill>
                  <a:srgbClr val="475569"/>
                </a:solidFill>
              </a:rPr>
              <a:t>Powered by LangSmith  •  Real-time AI evaluation &amp; observability</a:t>
            </a:r>
            <a:endParaRPr lang="en-US" sz="850" dirty="0"/>
          </a:p>
        </p:txBody>
      </p:sp>
      <p:sp>
        <p:nvSpPr>
          <p:cNvPr id="45" name="Shape 43"/>
          <p:cNvSpPr/>
          <p:nvPr/>
        </p:nvSpPr>
        <p:spPr>
          <a:xfrm>
            <a:off x="6035040" y="777240"/>
            <a:ext cx="2788920" cy="1097280"/>
          </a:xfrm>
          <a:prstGeom prst="rect">
            <a:avLst/>
          </a:prstGeom>
          <a:solidFill>
            <a:srgbClr val="1E293B"/>
          </a:solidFill>
          <a:ln w="12700">
            <a:solidFill>
              <a:srgbClr val="334155"/>
            </a:solidFill>
            <a:prstDash val="solid"/>
          </a:ln>
        </p:spPr>
      </p:sp>
      <p:pic>
        <p:nvPicPr>
          <p:cNvPr id="46" name="Image 0" descr="preencoded.png">    </p:cNvPr>
          <p:cNvPicPr>
            <a:picLocks noChangeAspect="1"/>
          </p:cNvPicPr>
          <p:nvPr/>
        </p:nvPicPr>
        <p:blipFill>
          <a:blip r:embed="rId1"/>
          <a:stretch>
            <a:fillRect/>
          </a:stretch>
        </p:blipFill>
        <p:spPr>
          <a:xfrm>
            <a:off x="6144768" y="886968"/>
            <a:ext cx="365760" cy="365760"/>
          </a:xfrm>
          <a:prstGeom prst="rect">
            <a:avLst/>
          </a:prstGeom>
        </p:spPr>
      </p:pic>
      <p:sp>
        <p:nvSpPr>
          <p:cNvPr id="47" name="Text 44"/>
          <p:cNvSpPr/>
          <p:nvPr/>
        </p:nvSpPr>
        <p:spPr>
          <a:xfrm>
            <a:off x="6583680" y="868680"/>
            <a:ext cx="2148840" cy="320040"/>
          </a:xfrm>
          <a:prstGeom prst="rect">
            <a:avLst/>
          </a:prstGeom>
          <a:noFill/>
          <a:ln/>
        </p:spPr>
        <p:txBody>
          <a:bodyPr wrap="square" lIns="0" tIns="0" rIns="0" bIns="0" rtlCol="0" anchor="ctr"/>
          <a:lstStyle/>
          <a:p>
            <a:pPr indent="0" marL="0">
              <a:buNone/>
            </a:pPr>
            <a:r>
              <a:rPr lang="en-US" sz="1200" b="1" dirty="0">
                <a:solidFill>
                  <a:srgbClr val="FFFFFF"/>
                </a:solidFill>
              </a:rPr>
              <a:t>Every AI call recorded</a:t>
            </a:r>
            <a:endParaRPr lang="en-US" sz="1200" dirty="0"/>
          </a:p>
        </p:txBody>
      </p:sp>
      <p:sp>
        <p:nvSpPr>
          <p:cNvPr id="48" name="Text 45"/>
          <p:cNvSpPr/>
          <p:nvPr/>
        </p:nvSpPr>
        <p:spPr>
          <a:xfrm>
            <a:off x="6583680" y="1216152"/>
            <a:ext cx="2148840" cy="502920"/>
          </a:xfrm>
          <a:prstGeom prst="rect">
            <a:avLst/>
          </a:prstGeom>
          <a:noFill/>
          <a:ln/>
        </p:spPr>
        <p:txBody>
          <a:bodyPr wrap="square" lIns="0" tIns="0" rIns="0" bIns="0" rtlCol="0" anchor="ctr"/>
          <a:lstStyle/>
          <a:p>
            <a:pPr indent="0" marL="0">
              <a:spcAft>
                <a:spcPts val="300"/>
              </a:spcAft>
              <a:buNone/>
            </a:pPr>
            <a:r>
              <a:rPr lang="en-US" sz="1000" dirty="0">
                <a:solidFill>
                  <a:srgbClr val="94A3B8"/>
                </a:solidFill>
              </a:rPr>
              <a:t>Input, output, and context captured for each trace</a:t>
            </a:r>
            <a:endParaRPr lang="en-US" sz="1000" dirty="0"/>
          </a:p>
        </p:txBody>
      </p:sp>
      <p:sp>
        <p:nvSpPr>
          <p:cNvPr id="49" name="Shape 46"/>
          <p:cNvSpPr/>
          <p:nvPr/>
        </p:nvSpPr>
        <p:spPr>
          <a:xfrm>
            <a:off x="6035040" y="2039112"/>
            <a:ext cx="2788920" cy="1097280"/>
          </a:xfrm>
          <a:prstGeom prst="rect">
            <a:avLst/>
          </a:prstGeom>
          <a:solidFill>
            <a:srgbClr val="1E293B"/>
          </a:solidFill>
          <a:ln w="12700">
            <a:solidFill>
              <a:srgbClr val="334155"/>
            </a:solidFill>
            <a:prstDash val="solid"/>
          </a:ln>
        </p:spPr>
      </p:sp>
      <p:pic>
        <p:nvPicPr>
          <p:cNvPr id="50" name="Image 1" descr="preencoded.png">    </p:cNvPr>
          <p:cNvPicPr>
            <a:picLocks noChangeAspect="1"/>
          </p:cNvPicPr>
          <p:nvPr/>
        </p:nvPicPr>
        <p:blipFill>
          <a:blip r:embed="rId2"/>
          <a:stretch>
            <a:fillRect/>
          </a:stretch>
        </p:blipFill>
        <p:spPr>
          <a:xfrm>
            <a:off x="6144768" y="2148840"/>
            <a:ext cx="365760" cy="365760"/>
          </a:xfrm>
          <a:prstGeom prst="rect">
            <a:avLst/>
          </a:prstGeom>
        </p:spPr>
      </p:pic>
      <p:sp>
        <p:nvSpPr>
          <p:cNvPr id="51" name="Text 47"/>
          <p:cNvSpPr/>
          <p:nvPr/>
        </p:nvSpPr>
        <p:spPr>
          <a:xfrm>
            <a:off x="6583680" y="2130552"/>
            <a:ext cx="2148840" cy="320040"/>
          </a:xfrm>
          <a:prstGeom prst="rect">
            <a:avLst/>
          </a:prstGeom>
          <a:noFill/>
          <a:ln/>
        </p:spPr>
        <p:txBody>
          <a:bodyPr wrap="square" lIns="0" tIns="0" rIns="0" bIns="0" rtlCol="0" anchor="ctr"/>
          <a:lstStyle/>
          <a:p>
            <a:pPr indent="0" marL="0">
              <a:buNone/>
            </a:pPr>
            <a:r>
              <a:rPr lang="en-US" sz="1200" b="1" dirty="0">
                <a:solidFill>
                  <a:srgbClr val="FFFFFF"/>
                </a:solidFill>
              </a:rPr>
              <a:t>Quality benchmarked</a:t>
            </a:r>
            <a:endParaRPr lang="en-US" sz="1200" dirty="0"/>
          </a:p>
        </p:txBody>
      </p:sp>
      <p:sp>
        <p:nvSpPr>
          <p:cNvPr id="52" name="Text 48"/>
          <p:cNvSpPr/>
          <p:nvPr/>
        </p:nvSpPr>
        <p:spPr>
          <a:xfrm>
            <a:off x="6583680" y="2478024"/>
            <a:ext cx="2148840" cy="502920"/>
          </a:xfrm>
          <a:prstGeom prst="rect">
            <a:avLst/>
          </a:prstGeom>
          <a:noFill/>
          <a:ln/>
        </p:spPr>
        <p:txBody>
          <a:bodyPr wrap="square" lIns="0" tIns="0" rIns="0" bIns="0" rtlCol="0" anchor="ctr"/>
          <a:lstStyle/>
          <a:p>
            <a:pPr indent="0" marL="0">
              <a:spcAft>
                <a:spcPts val="300"/>
              </a:spcAft>
              <a:buNone/>
            </a:pPr>
            <a:r>
              <a:rPr lang="en-US" sz="1000" dirty="0">
                <a:solidFill>
                  <a:srgbClr val="94A3B8"/>
                </a:solidFill>
              </a:rPr>
              <a:t>Scored against 20 real clinic scenarios automatically</a:t>
            </a:r>
            <a:endParaRPr lang="en-US" sz="1000" dirty="0"/>
          </a:p>
        </p:txBody>
      </p:sp>
      <p:sp>
        <p:nvSpPr>
          <p:cNvPr id="53" name="Shape 49"/>
          <p:cNvSpPr/>
          <p:nvPr/>
        </p:nvSpPr>
        <p:spPr>
          <a:xfrm>
            <a:off x="6035040" y="3300984"/>
            <a:ext cx="2788920" cy="1097280"/>
          </a:xfrm>
          <a:prstGeom prst="rect">
            <a:avLst/>
          </a:prstGeom>
          <a:solidFill>
            <a:srgbClr val="1E293B"/>
          </a:solidFill>
          <a:ln w="12700">
            <a:solidFill>
              <a:srgbClr val="334155"/>
            </a:solidFill>
            <a:prstDash val="solid"/>
          </a:ln>
        </p:spPr>
      </p:sp>
      <p:pic>
        <p:nvPicPr>
          <p:cNvPr id="54" name="Image 2" descr="preencoded.png">    </p:cNvPr>
          <p:cNvPicPr>
            <a:picLocks noChangeAspect="1"/>
          </p:cNvPicPr>
          <p:nvPr/>
        </p:nvPicPr>
        <p:blipFill>
          <a:blip r:embed="rId3"/>
          <a:stretch>
            <a:fillRect/>
          </a:stretch>
        </p:blipFill>
        <p:spPr>
          <a:xfrm>
            <a:off x="6144768" y="3410712"/>
            <a:ext cx="365760" cy="365760"/>
          </a:xfrm>
          <a:prstGeom prst="rect">
            <a:avLst/>
          </a:prstGeom>
        </p:spPr>
      </p:pic>
      <p:sp>
        <p:nvSpPr>
          <p:cNvPr id="55" name="Text 50"/>
          <p:cNvSpPr/>
          <p:nvPr/>
        </p:nvSpPr>
        <p:spPr>
          <a:xfrm>
            <a:off x="6583680" y="3392424"/>
            <a:ext cx="2148840" cy="320040"/>
          </a:xfrm>
          <a:prstGeom prst="rect">
            <a:avLst/>
          </a:prstGeom>
          <a:noFill/>
          <a:ln/>
        </p:spPr>
        <p:txBody>
          <a:bodyPr wrap="square" lIns="0" tIns="0" rIns="0" bIns="0" rtlCol="0" anchor="ctr"/>
          <a:lstStyle/>
          <a:p>
            <a:pPr indent="0" marL="0">
              <a:buNone/>
            </a:pPr>
            <a:r>
              <a:rPr lang="en-US" sz="1200" b="1" dirty="0">
                <a:solidFill>
                  <a:srgbClr val="FFFFFF"/>
                </a:solidFill>
              </a:rPr>
              <a:t>Alerts if quality drops</a:t>
            </a:r>
            <a:endParaRPr lang="en-US" sz="1200" dirty="0"/>
          </a:p>
        </p:txBody>
      </p:sp>
      <p:sp>
        <p:nvSpPr>
          <p:cNvPr id="56" name="Text 51"/>
          <p:cNvSpPr/>
          <p:nvPr/>
        </p:nvSpPr>
        <p:spPr>
          <a:xfrm>
            <a:off x="6583680" y="3739896"/>
            <a:ext cx="2148840" cy="502920"/>
          </a:xfrm>
          <a:prstGeom prst="rect">
            <a:avLst/>
          </a:prstGeom>
          <a:noFill/>
          <a:ln/>
        </p:spPr>
        <p:txBody>
          <a:bodyPr wrap="square" lIns="0" tIns="0" rIns="0" bIns="0" rtlCol="0" anchor="ctr"/>
          <a:lstStyle/>
          <a:p>
            <a:pPr indent="0" marL="0">
              <a:spcAft>
                <a:spcPts val="300"/>
              </a:spcAft>
              <a:buNone/>
            </a:pPr>
            <a:r>
              <a:rPr lang="en-US" sz="1000" dirty="0">
                <a:solidFill>
                  <a:srgbClr val="94A3B8"/>
                </a:solidFill>
              </a:rPr>
              <a:t>Team is notified if any insight scores below threshold</a:t>
            </a:r>
            <a:endParaRPr lang="en-US" sz="1000" dirty="0"/>
          </a:p>
        </p:txBody>
      </p:sp>
      <p:sp>
        <p:nvSpPr>
          <p:cNvPr id="57" name="Shape 52"/>
          <p:cNvSpPr/>
          <p:nvPr/>
        </p:nvSpPr>
        <p:spPr>
          <a:xfrm>
            <a:off x="0" y="4937760"/>
            <a:ext cx="9144000" cy="205740"/>
          </a:xfrm>
          <a:prstGeom prst="rect">
            <a:avLst/>
          </a:prstGeom>
          <a:solidFill>
            <a:srgbClr val="0A0F1C"/>
          </a:solidFill>
          <a:ln w="12700">
            <a:solidFill>
              <a:srgbClr val="0A0F1C"/>
            </a:solidFill>
            <a:prstDash val="solid"/>
          </a:ln>
        </p:spPr>
      </p:sp>
      <p:sp>
        <p:nvSpPr>
          <p:cNvPr id="58" name="Text 53"/>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475569"/>
                </a:solidFill>
              </a:rPr>
              <a:t>8 / 11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A5470"/>
                </a:solidFill>
                <a:latin typeface="Calibri Light" pitchFamily="34" charset="0"/>
                <a:ea typeface="Calibri Light" pitchFamily="34" charset="-122"/>
                <a:cs typeface="Calibri Light" pitchFamily="34" charset="-120"/>
              </a:rPr>
              <a:t>The Investment. The Return.</a:t>
            </a:r>
            <a:endParaRPr lang="en-US" sz="2800" dirty="0"/>
          </a:p>
        </p:txBody>
      </p:sp>
      <p:sp>
        <p:nvSpPr>
          <p:cNvPr id="4" name="Shape 2"/>
          <p:cNvSpPr/>
          <p:nvPr/>
        </p:nvSpPr>
        <p:spPr>
          <a:xfrm>
            <a:off x="320040" y="777240"/>
            <a:ext cx="3931920" cy="3886200"/>
          </a:xfrm>
          <a:prstGeom prst="rect">
            <a:avLst/>
          </a:prstGeom>
          <a:solidFill>
            <a:srgbClr val="FFFFFF"/>
          </a:solidFill>
          <a:ln w="19050">
            <a:solidFill>
              <a:srgbClr val="CBD5E1"/>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320040" y="777240"/>
            <a:ext cx="3931920" cy="457200"/>
          </a:xfrm>
          <a:prstGeom prst="rect">
            <a:avLst/>
          </a:prstGeom>
          <a:solidFill>
            <a:srgbClr val="0D6B8A"/>
          </a:solidFill>
          <a:ln w="12700">
            <a:solidFill>
              <a:srgbClr val="0D6B8A"/>
            </a:solidFill>
            <a:prstDash val="solid"/>
          </a:ln>
        </p:spPr>
      </p:sp>
      <p:sp>
        <p:nvSpPr>
          <p:cNvPr id="6" name="Text 4"/>
          <p:cNvSpPr/>
          <p:nvPr/>
        </p:nvSpPr>
        <p:spPr>
          <a:xfrm>
            <a:off x="411480" y="777240"/>
            <a:ext cx="3749040" cy="457200"/>
          </a:xfrm>
          <a:prstGeom prst="rect">
            <a:avLst/>
          </a:prstGeom>
          <a:noFill/>
          <a:ln/>
        </p:spPr>
        <p:txBody>
          <a:bodyPr wrap="square" lIns="0" tIns="0" rIns="0" bIns="0" rtlCol="0" anchor="ctr"/>
          <a:lstStyle/>
          <a:p>
            <a:pPr indent="0" marL="0">
              <a:buNone/>
            </a:pPr>
            <a:r>
              <a:rPr lang="en-US" sz="1400" b="1" dirty="0">
                <a:solidFill>
                  <a:srgbClr val="FFFFFF"/>
                </a:solidFill>
              </a:rPr>
              <a:t>💰  Investment</a:t>
            </a:r>
            <a:endParaRPr lang="en-US" sz="1400" dirty="0"/>
          </a:p>
        </p:txBody>
      </p:sp>
      <p:sp>
        <p:nvSpPr>
          <p:cNvPr id="7" name="Shape 5"/>
          <p:cNvSpPr/>
          <p:nvPr/>
        </p:nvSpPr>
        <p:spPr>
          <a:xfrm>
            <a:off x="411480" y="1417320"/>
            <a:ext cx="3749040" cy="594360"/>
          </a:xfrm>
          <a:prstGeom prst="rect">
            <a:avLst/>
          </a:prstGeom>
          <a:solidFill>
            <a:srgbClr val="F8FAFC"/>
          </a:solidFill>
          <a:ln w="12700">
            <a:solidFill>
              <a:srgbClr val="F1F5F9"/>
            </a:solidFill>
            <a:prstDash val="solid"/>
          </a:ln>
        </p:spPr>
      </p:sp>
      <p:sp>
        <p:nvSpPr>
          <p:cNvPr id="8" name="Text 6"/>
          <p:cNvSpPr/>
          <p:nvPr/>
        </p:nvSpPr>
        <p:spPr>
          <a:xfrm>
            <a:off x="502920" y="1508760"/>
            <a:ext cx="1874520" cy="365760"/>
          </a:xfrm>
          <a:prstGeom prst="rect">
            <a:avLst/>
          </a:prstGeom>
          <a:noFill/>
          <a:ln/>
        </p:spPr>
        <p:txBody>
          <a:bodyPr wrap="square" lIns="0" tIns="0" rIns="0" bIns="0" rtlCol="0" anchor="ctr"/>
          <a:lstStyle/>
          <a:p>
            <a:pPr indent="0" marL="0">
              <a:buNone/>
            </a:pPr>
            <a:r>
              <a:rPr lang="en-US" sz="1200" dirty="0">
                <a:solidFill>
                  <a:srgbClr val="334155"/>
                </a:solidFill>
              </a:rPr>
              <a:t>Pilot (3–5 weeks)</a:t>
            </a:r>
            <a:endParaRPr lang="en-US" sz="1200" dirty="0"/>
          </a:p>
        </p:txBody>
      </p:sp>
      <p:sp>
        <p:nvSpPr>
          <p:cNvPr id="9" name="Text 7"/>
          <p:cNvSpPr/>
          <p:nvPr/>
        </p:nvSpPr>
        <p:spPr>
          <a:xfrm>
            <a:off x="2331720" y="1508760"/>
            <a:ext cx="1280160" cy="365760"/>
          </a:xfrm>
          <a:prstGeom prst="rect">
            <a:avLst/>
          </a:prstGeom>
          <a:noFill/>
          <a:ln/>
        </p:spPr>
        <p:txBody>
          <a:bodyPr wrap="square" lIns="0" tIns="0" rIns="0" bIns="0" rtlCol="0" anchor="ctr"/>
          <a:lstStyle/>
          <a:p>
            <a:pPr algn="r" indent="0" marL="0">
              <a:buNone/>
            </a:pPr>
            <a:r>
              <a:rPr lang="en-US" sz="1300" b="1" dirty="0">
                <a:solidFill>
                  <a:srgbClr val="0D6B8A"/>
                </a:solidFill>
              </a:rPr>
              <a:t>$6,000 – $8,500</a:t>
            </a:r>
            <a:endParaRPr lang="en-US" sz="1300" dirty="0"/>
          </a:p>
        </p:txBody>
      </p:sp>
      <p:sp>
        <p:nvSpPr>
          <p:cNvPr id="10" name="Text 8"/>
          <p:cNvSpPr/>
          <p:nvPr/>
        </p:nvSpPr>
        <p:spPr>
          <a:xfrm>
            <a:off x="2331720" y="1783080"/>
            <a:ext cx="1280160" cy="182880"/>
          </a:xfrm>
          <a:prstGeom prst="rect">
            <a:avLst/>
          </a:prstGeom>
          <a:noFill/>
          <a:ln/>
        </p:spPr>
        <p:txBody>
          <a:bodyPr wrap="square" lIns="0" tIns="0" rIns="0" bIns="0" rtlCol="0" anchor="ctr"/>
          <a:lstStyle/>
          <a:p>
            <a:pPr algn="r" indent="0" marL="0">
              <a:buNone/>
            </a:pPr>
            <a:r>
              <a:rPr lang="en-US" sz="800" dirty="0">
                <a:solidFill>
                  <a:srgbClr val="64748B"/>
                </a:solidFill>
              </a:rPr>
              <a:t>one-time</a:t>
            </a:r>
            <a:endParaRPr lang="en-US" sz="800" dirty="0"/>
          </a:p>
        </p:txBody>
      </p:sp>
      <p:sp>
        <p:nvSpPr>
          <p:cNvPr id="11" name="Shape 9"/>
          <p:cNvSpPr/>
          <p:nvPr/>
        </p:nvSpPr>
        <p:spPr>
          <a:xfrm>
            <a:off x="411480" y="2103120"/>
            <a:ext cx="3749040" cy="594360"/>
          </a:xfrm>
          <a:prstGeom prst="rect">
            <a:avLst/>
          </a:prstGeom>
          <a:solidFill>
            <a:srgbClr val="FFFFFF"/>
          </a:solidFill>
          <a:ln w="12700">
            <a:solidFill>
              <a:srgbClr val="F1F5F9"/>
            </a:solidFill>
            <a:prstDash val="solid"/>
          </a:ln>
        </p:spPr>
      </p:sp>
      <p:sp>
        <p:nvSpPr>
          <p:cNvPr id="12" name="Text 10"/>
          <p:cNvSpPr/>
          <p:nvPr/>
        </p:nvSpPr>
        <p:spPr>
          <a:xfrm>
            <a:off x="502920" y="2194560"/>
            <a:ext cx="1874520" cy="365760"/>
          </a:xfrm>
          <a:prstGeom prst="rect">
            <a:avLst/>
          </a:prstGeom>
          <a:noFill/>
          <a:ln/>
        </p:spPr>
        <p:txBody>
          <a:bodyPr wrap="square" lIns="0" tIns="0" rIns="0" bIns="0" rtlCol="0" anchor="ctr"/>
          <a:lstStyle/>
          <a:p>
            <a:pPr indent="0" marL="0">
              <a:buNone/>
            </a:pPr>
            <a:r>
              <a:rPr lang="en-US" sz="1200" dirty="0">
                <a:solidFill>
                  <a:srgbClr val="334155"/>
                </a:solidFill>
              </a:rPr>
              <a:t>Monthly operations</a:t>
            </a:r>
            <a:endParaRPr lang="en-US" sz="1200" dirty="0"/>
          </a:p>
        </p:txBody>
      </p:sp>
      <p:sp>
        <p:nvSpPr>
          <p:cNvPr id="13" name="Text 11"/>
          <p:cNvSpPr/>
          <p:nvPr/>
        </p:nvSpPr>
        <p:spPr>
          <a:xfrm>
            <a:off x="2331720" y="2194560"/>
            <a:ext cx="1280160" cy="365760"/>
          </a:xfrm>
          <a:prstGeom prst="rect">
            <a:avLst/>
          </a:prstGeom>
          <a:noFill/>
          <a:ln/>
        </p:spPr>
        <p:txBody>
          <a:bodyPr wrap="square" lIns="0" tIns="0" rIns="0" bIns="0" rtlCol="0" anchor="ctr"/>
          <a:lstStyle/>
          <a:p>
            <a:pPr algn="r" indent="0" marL="0">
              <a:buNone/>
            </a:pPr>
            <a:r>
              <a:rPr lang="en-US" sz="1300" b="1" dirty="0">
                <a:solidFill>
                  <a:srgbClr val="0D6B8A"/>
                </a:solidFill>
              </a:rPr>
              <a:t>$60 – $340/mo</a:t>
            </a:r>
            <a:endParaRPr lang="en-US" sz="1300" dirty="0"/>
          </a:p>
        </p:txBody>
      </p:sp>
      <p:sp>
        <p:nvSpPr>
          <p:cNvPr id="14" name="Text 12"/>
          <p:cNvSpPr/>
          <p:nvPr/>
        </p:nvSpPr>
        <p:spPr>
          <a:xfrm>
            <a:off x="2331720" y="2468880"/>
            <a:ext cx="1280160" cy="182880"/>
          </a:xfrm>
          <a:prstGeom prst="rect">
            <a:avLst/>
          </a:prstGeom>
          <a:noFill/>
          <a:ln/>
        </p:spPr>
        <p:txBody>
          <a:bodyPr wrap="square" lIns="0" tIns="0" rIns="0" bIns="0" rtlCol="0" anchor="ctr"/>
          <a:lstStyle/>
          <a:p>
            <a:pPr algn="r" indent="0" marL="0">
              <a:buNone/>
            </a:pPr>
            <a:r>
              <a:rPr lang="en-US" sz="800" dirty="0">
                <a:solidFill>
                  <a:srgbClr val="64748B"/>
                </a:solidFill>
              </a:rPr>
              <a:t>ongoing</a:t>
            </a:r>
            <a:endParaRPr lang="en-US" sz="800" dirty="0"/>
          </a:p>
        </p:txBody>
      </p:sp>
      <p:sp>
        <p:nvSpPr>
          <p:cNvPr id="15" name="Shape 13"/>
          <p:cNvSpPr/>
          <p:nvPr/>
        </p:nvSpPr>
        <p:spPr>
          <a:xfrm>
            <a:off x="411480" y="2788920"/>
            <a:ext cx="3749040" cy="594360"/>
          </a:xfrm>
          <a:prstGeom prst="rect">
            <a:avLst/>
          </a:prstGeom>
          <a:solidFill>
            <a:srgbClr val="F8FAFC"/>
          </a:solidFill>
          <a:ln w="12700">
            <a:solidFill>
              <a:srgbClr val="F1F5F9"/>
            </a:solidFill>
            <a:prstDash val="solid"/>
          </a:ln>
        </p:spPr>
      </p:sp>
      <p:sp>
        <p:nvSpPr>
          <p:cNvPr id="16" name="Text 14"/>
          <p:cNvSpPr/>
          <p:nvPr/>
        </p:nvSpPr>
        <p:spPr>
          <a:xfrm>
            <a:off x="502920" y="2880360"/>
            <a:ext cx="1874520" cy="365760"/>
          </a:xfrm>
          <a:prstGeom prst="rect">
            <a:avLst/>
          </a:prstGeom>
          <a:noFill/>
          <a:ln/>
        </p:spPr>
        <p:txBody>
          <a:bodyPr wrap="square" lIns="0" tIns="0" rIns="0" bIns="0" rtlCol="0" anchor="ctr"/>
          <a:lstStyle/>
          <a:p>
            <a:pPr indent="0" marL="0">
              <a:buNone/>
            </a:pPr>
            <a:r>
              <a:rPr lang="en-US" sz="1200" dirty="0">
                <a:solidFill>
                  <a:srgbClr val="334155"/>
                </a:solidFill>
              </a:rPr>
              <a:t>Year 1 total</a:t>
            </a:r>
            <a:endParaRPr lang="en-US" sz="1200" dirty="0"/>
          </a:p>
        </p:txBody>
      </p:sp>
      <p:sp>
        <p:nvSpPr>
          <p:cNvPr id="17" name="Text 15"/>
          <p:cNvSpPr/>
          <p:nvPr/>
        </p:nvSpPr>
        <p:spPr>
          <a:xfrm>
            <a:off x="2331720" y="2880360"/>
            <a:ext cx="1280160" cy="365760"/>
          </a:xfrm>
          <a:prstGeom prst="rect">
            <a:avLst/>
          </a:prstGeom>
          <a:noFill/>
          <a:ln/>
        </p:spPr>
        <p:txBody>
          <a:bodyPr wrap="square" lIns="0" tIns="0" rIns="0" bIns="0" rtlCol="0" anchor="ctr"/>
          <a:lstStyle/>
          <a:p>
            <a:pPr algn="r" indent="0" marL="0">
              <a:buNone/>
            </a:pPr>
            <a:r>
              <a:rPr lang="en-US" sz="1300" b="1" dirty="0">
                <a:solidFill>
                  <a:srgbClr val="0D6B8A"/>
                </a:solidFill>
              </a:rPr>
              <a:t>~$9,000 – $13,000</a:t>
            </a:r>
            <a:endParaRPr lang="en-US" sz="1300" dirty="0"/>
          </a:p>
        </p:txBody>
      </p:sp>
      <p:sp>
        <p:nvSpPr>
          <p:cNvPr id="18" name="Text 16"/>
          <p:cNvSpPr/>
          <p:nvPr/>
        </p:nvSpPr>
        <p:spPr>
          <a:xfrm>
            <a:off x="2331720" y="3154680"/>
            <a:ext cx="1280160" cy="182880"/>
          </a:xfrm>
          <a:prstGeom prst="rect">
            <a:avLst/>
          </a:prstGeom>
          <a:noFill/>
          <a:ln/>
        </p:spPr>
        <p:txBody>
          <a:bodyPr wrap="square" lIns="0" tIns="0" rIns="0" bIns="0" rtlCol="0" anchor="ctr"/>
          <a:lstStyle/>
          <a:p>
            <a:pPr algn="r" indent="0" marL="0">
              <a:buNone/>
            </a:pPr>
            <a:r>
              <a:rPr lang="en-US" sz="800" dirty="0">
                <a:solidFill>
                  <a:srgbClr val="64748B"/>
                </a:solidFill>
              </a:rPr>
              <a:t>all-in</a:t>
            </a:r>
            <a:endParaRPr lang="en-US" sz="800" dirty="0"/>
          </a:p>
        </p:txBody>
      </p:sp>
      <p:sp>
        <p:nvSpPr>
          <p:cNvPr id="19" name="Text 17"/>
          <p:cNvSpPr/>
          <p:nvPr/>
        </p:nvSpPr>
        <p:spPr>
          <a:xfrm>
            <a:off x="411480" y="4160520"/>
            <a:ext cx="3749040" cy="320040"/>
          </a:xfrm>
          <a:prstGeom prst="rect">
            <a:avLst/>
          </a:prstGeom>
          <a:noFill/>
          <a:ln/>
        </p:spPr>
        <p:txBody>
          <a:bodyPr wrap="square" lIns="0" tIns="0" rIns="0" bIns="0" rtlCol="0" anchor="ctr"/>
          <a:lstStyle/>
          <a:p>
            <a:pPr indent="0" marL="0">
              <a:buNone/>
            </a:pPr>
            <a:r>
              <a:rPr lang="en-US" sz="850" i="1" dirty="0">
                <a:solidFill>
                  <a:srgbClr val="64748B"/>
                </a:solidFill>
              </a:rPr>
              <a:t>Free-tier tools used where possible. Estimates include consulting + tooling.</a:t>
            </a:r>
            <a:endParaRPr lang="en-US" sz="850" dirty="0"/>
          </a:p>
        </p:txBody>
      </p:sp>
      <p:sp>
        <p:nvSpPr>
          <p:cNvPr id="20" name="Shape 18"/>
          <p:cNvSpPr/>
          <p:nvPr/>
        </p:nvSpPr>
        <p:spPr>
          <a:xfrm>
            <a:off x="4572000" y="777240"/>
            <a:ext cx="4251960" cy="3886200"/>
          </a:xfrm>
          <a:prstGeom prst="rect">
            <a:avLst/>
          </a:prstGeom>
          <a:solidFill>
            <a:srgbClr val="0A5470"/>
          </a:solidFill>
          <a:ln w="19050">
            <a:solidFill>
              <a:srgbClr val="0D6B8A"/>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4572000" y="777240"/>
            <a:ext cx="4251960" cy="457200"/>
          </a:xfrm>
          <a:prstGeom prst="rect">
            <a:avLst/>
          </a:prstGeom>
          <a:solidFill>
            <a:srgbClr val="E8762B"/>
          </a:solidFill>
          <a:ln w="12700">
            <a:solidFill>
              <a:srgbClr val="E8762B"/>
            </a:solidFill>
            <a:prstDash val="solid"/>
          </a:ln>
        </p:spPr>
      </p:sp>
      <p:sp>
        <p:nvSpPr>
          <p:cNvPr id="22" name="Text 20"/>
          <p:cNvSpPr/>
          <p:nvPr/>
        </p:nvSpPr>
        <p:spPr>
          <a:xfrm>
            <a:off x="4663440" y="777240"/>
            <a:ext cx="4069080" cy="457200"/>
          </a:xfrm>
          <a:prstGeom prst="rect">
            <a:avLst/>
          </a:prstGeom>
          <a:noFill/>
          <a:ln/>
        </p:spPr>
        <p:txBody>
          <a:bodyPr wrap="square" lIns="0" tIns="0" rIns="0" bIns="0" rtlCol="0" anchor="ctr"/>
          <a:lstStyle/>
          <a:p>
            <a:pPr indent="0" marL="0">
              <a:buNone/>
            </a:pPr>
            <a:r>
              <a:rPr lang="en-US" sz="1300" b="1" dirty="0">
                <a:solidFill>
                  <a:srgbClr val="FFFFFF"/>
                </a:solidFill>
              </a:rPr>
              <a:t>📈  Conservative ROI Estimate</a:t>
            </a:r>
            <a:endParaRPr lang="en-US" sz="1300" dirty="0"/>
          </a:p>
        </p:txBody>
      </p:sp>
      <p:sp>
        <p:nvSpPr>
          <p:cNvPr id="23" name="Text 21"/>
          <p:cNvSpPr/>
          <p:nvPr/>
        </p:nvSpPr>
        <p:spPr>
          <a:xfrm>
            <a:off x="4709160" y="1417320"/>
            <a:ext cx="3977640" cy="384048"/>
          </a:xfrm>
          <a:prstGeom prst="rect">
            <a:avLst/>
          </a:prstGeom>
          <a:noFill/>
          <a:ln/>
        </p:spPr>
        <p:txBody>
          <a:bodyPr wrap="square" lIns="0" tIns="0" rIns="0" bIns="0" rtlCol="0" anchor="ctr"/>
          <a:lstStyle/>
          <a:p>
            <a:pPr indent="0" marL="0">
              <a:buNone/>
            </a:pPr>
            <a:r>
              <a:rPr lang="en-US" sz="1250" dirty="0">
                <a:solidFill>
                  <a:srgbClr val="CADCEB"/>
                </a:solidFill>
              </a:rPr>
              <a:t>+5% improvement in attendance rate</a:t>
            </a:r>
            <a:endParaRPr lang="en-US" sz="1250" dirty="0"/>
          </a:p>
        </p:txBody>
      </p:sp>
      <p:sp>
        <p:nvSpPr>
          <p:cNvPr id="24" name="Text 22"/>
          <p:cNvSpPr/>
          <p:nvPr/>
        </p:nvSpPr>
        <p:spPr>
          <a:xfrm>
            <a:off x="4709160" y="1874520"/>
            <a:ext cx="3977640" cy="384048"/>
          </a:xfrm>
          <a:prstGeom prst="rect">
            <a:avLst/>
          </a:prstGeom>
          <a:noFill/>
          <a:ln/>
        </p:spPr>
        <p:txBody>
          <a:bodyPr wrap="square" lIns="0" tIns="0" rIns="0" bIns="0" rtlCol="0" anchor="ctr"/>
          <a:lstStyle/>
          <a:p>
            <a:pPr indent="0" marL="0">
              <a:buNone/>
            </a:pPr>
            <a:r>
              <a:rPr lang="en-US" sz="1250" dirty="0">
                <a:solidFill>
                  <a:srgbClr val="CADCEB"/>
                </a:solidFill>
              </a:rPr>
              <a:t>= ~275 extra attended appointments/month</a:t>
            </a:r>
            <a:endParaRPr lang="en-US" sz="1250" dirty="0"/>
          </a:p>
        </p:txBody>
      </p:sp>
      <p:sp>
        <p:nvSpPr>
          <p:cNvPr id="25" name="Text 23"/>
          <p:cNvSpPr/>
          <p:nvPr/>
        </p:nvSpPr>
        <p:spPr>
          <a:xfrm>
            <a:off x="4709160" y="2331720"/>
            <a:ext cx="3977640" cy="384048"/>
          </a:xfrm>
          <a:prstGeom prst="rect">
            <a:avLst/>
          </a:prstGeom>
          <a:noFill/>
          <a:ln/>
        </p:spPr>
        <p:txBody>
          <a:bodyPr wrap="square" lIns="0" tIns="0" rIns="0" bIns="0" rtlCol="0" anchor="ctr"/>
          <a:lstStyle/>
          <a:p>
            <a:pPr indent="0" marL="0">
              <a:buNone/>
            </a:pPr>
            <a:r>
              <a:rPr lang="en-US" sz="1250" dirty="0">
                <a:solidFill>
                  <a:srgbClr val="CADCEB"/>
                </a:solidFill>
              </a:rPr>
              <a:t>@ $150 avg revenue per appointment</a:t>
            </a:r>
            <a:endParaRPr lang="en-US" sz="1250" dirty="0"/>
          </a:p>
        </p:txBody>
      </p:sp>
      <p:sp>
        <p:nvSpPr>
          <p:cNvPr id="26" name="Shape 24"/>
          <p:cNvSpPr/>
          <p:nvPr/>
        </p:nvSpPr>
        <p:spPr>
          <a:xfrm>
            <a:off x="4709160" y="2816352"/>
            <a:ext cx="3977640" cy="54864"/>
          </a:xfrm>
          <a:prstGeom prst="rect">
            <a:avLst/>
          </a:prstGeom>
          <a:solidFill>
            <a:srgbClr val="E8762B"/>
          </a:solidFill>
          <a:ln w="12700">
            <a:solidFill>
              <a:srgbClr val="E8762B"/>
            </a:solidFill>
            <a:prstDash val="solid"/>
          </a:ln>
        </p:spPr>
      </p:sp>
      <p:sp>
        <p:nvSpPr>
          <p:cNvPr id="27" name="Text 25"/>
          <p:cNvSpPr/>
          <p:nvPr/>
        </p:nvSpPr>
        <p:spPr>
          <a:xfrm>
            <a:off x="4709160" y="2926080"/>
            <a:ext cx="3977640" cy="502920"/>
          </a:xfrm>
          <a:prstGeom prst="rect">
            <a:avLst/>
          </a:prstGeom>
          <a:noFill/>
          <a:ln/>
        </p:spPr>
        <p:txBody>
          <a:bodyPr wrap="square" lIns="0" tIns="0" rIns="0" bIns="0" rtlCol="0" anchor="ctr"/>
          <a:lstStyle/>
          <a:p>
            <a:pPr indent="0" marL="0">
              <a:buNone/>
            </a:pPr>
            <a:r>
              <a:rPr lang="en-US" sz="2400" b="1" dirty="0">
                <a:solidFill>
                  <a:srgbClr val="E8762B"/>
                </a:solidFill>
              </a:rPr>
              <a:t>$41,250/month recovered</a:t>
            </a:r>
            <a:endParaRPr lang="en-US" sz="2400" dirty="0"/>
          </a:p>
        </p:txBody>
      </p:sp>
      <p:sp>
        <p:nvSpPr>
          <p:cNvPr id="28" name="Shape 26"/>
          <p:cNvSpPr/>
          <p:nvPr/>
        </p:nvSpPr>
        <p:spPr>
          <a:xfrm>
            <a:off x="4709160" y="3520440"/>
            <a:ext cx="3977640" cy="640080"/>
          </a:xfrm>
          <a:prstGeom prst="rect">
            <a:avLst/>
          </a:prstGeom>
          <a:solidFill>
            <a:srgbClr val="E8762B"/>
          </a:solidFill>
          <a:ln w="12700">
            <a:solidFill>
              <a:srgbClr val="E8762B"/>
            </a:solidFill>
            <a:prstDash val="solid"/>
          </a:ln>
        </p:spPr>
      </p:sp>
      <p:sp>
        <p:nvSpPr>
          <p:cNvPr id="29" name="Text 27"/>
          <p:cNvSpPr/>
          <p:nvPr/>
        </p:nvSpPr>
        <p:spPr>
          <a:xfrm>
            <a:off x="4709160" y="3520440"/>
            <a:ext cx="3977640" cy="640080"/>
          </a:xfrm>
          <a:prstGeom prst="rect">
            <a:avLst/>
          </a:prstGeom>
          <a:noFill/>
          <a:ln/>
        </p:spPr>
        <p:txBody>
          <a:bodyPr wrap="square" lIns="0" tIns="0" rIns="0" bIns="0" rtlCol="0" anchor="ctr"/>
          <a:lstStyle/>
          <a:p>
            <a:pPr algn="ctr" indent="0" marL="0">
              <a:buNone/>
            </a:pPr>
            <a:r>
              <a:rPr lang="en-US" sz="2000" b="1" dirty="0">
                <a:solidFill>
                  <a:srgbClr val="FFFFFF"/>
                </a:solidFill>
              </a:rPr>
              <a:t>Payback period: &lt; 1 week</a:t>
            </a:r>
            <a:endParaRPr lang="en-US" sz="2000" dirty="0"/>
          </a:p>
        </p:txBody>
      </p:sp>
      <p:sp>
        <p:nvSpPr>
          <p:cNvPr id="30" name="Text 28"/>
          <p:cNvSpPr/>
          <p:nvPr/>
        </p:nvSpPr>
        <p:spPr>
          <a:xfrm>
            <a:off x="4709160" y="4251960"/>
            <a:ext cx="3977640" cy="256032"/>
          </a:xfrm>
          <a:prstGeom prst="rect">
            <a:avLst/>
          </a:prstGeom>
          <a:noFill/>
          <a:ln/>
        </p:spPr>
        <p:txBody>
          <a:bodyPr wrap="square" lIns="0" tIns="0" rIns="0" bIns="0" rtlCol="0" anchor="ctr"/>
          <a:lstStyle/>
          <a:p>
            <a:pPr indent="0" marL="0">
              <a:buNone/>
            </a:pPr>
            <a:r>
              <a:rPr lang="en-US" sz="850" i="1" dirty="0">
                <a:solidFill>
                  <a:srgbClr val="4A90A4"/>
                </a:solidFill>
              </a:rPr>
              <a:t>Based on clinic avg 5,500 appts/month  •  Conservative 5pp improvement</a:t>
            </a:r>
            <a:endParaRPr lang="en-US" sz="850" dirty="0"/>
          </a:p>
        </p:txBody>
      </p:sp>
      <p:sp>
        <p:nvSpPr>
          <p:cNvPr id="31" name="Shape 29"/>
          <p:cNvSpPr/>
          <p:nvPr/>
        </p:nvSpPr>
        <p:spPr>
          <a:xfrm>
            <a:off x="0" y="4937760"/>
            <a:ext cx="9144000" cy="205740"/>
          </a:xfrm>
          <a:prstGeom prst="rect">
            <a:avLst/>
          </a:prstGeom>
          <a:solidFill>
            <a:srgbClr val="0A5470"/>
          </a:solidFill>
          <a:ln w="12700">
            <a:solidFill>
              <a:srgbClr val="0A5470"/>
            </a:solidFill>
            <a:prstDash val="solid"/>
          </a:ln>
        </p:spPr>
      </p:sp>
      <p:sp>
        <p:nvSpPr>
          <p:cNvPr id="32" name="Text 30"/>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9 / 11</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6B8A"/>
          </a:solidFill>
          <a:ln w="12700">
            <a:solidFill>
              <a:srgbClr val="0D6B8A"/>
            </a:solidFill>
            <a:prstDash val="solid"/>
          </a:ln>
        </p:spPr>
      </p:sp>
      <p:sp>
        <p:nvSpPr>
          <p:cNvPr id="3" name="Text 1"/>
          <p:cNvSpPr/>
          <p:nvPr/>
        </p:nvSpPr>
        <p:spPr>
          <a:xfrm>
            <a:off x="457200" y="164592"/>
            <a:ext cx="8229600" cy="457200"/>
          </a:xfrm>
          <a:prstGeom prst="rect">
            <a:avLst/>
          </a:prstGeom>
          <a:noFill/>
          <a:ln/>
        </p:spPr>
        <p:txBody>
          <a:bodyPr wrap="square" lIns="0" tIns="0" rIns="0" bIns="0" rtlCol="0" anchor="ctr"/>
          <a:lstStyle/>
          <a:p>
            <a:pPr indent="0" marL="0">
              <a:buNone/>
            </a:pPr>
            <a:r>
              <a:rPr lang="en-US" sz="2800" b="1" dirty="0">
                <a:solidFill>
                  <a:srgbClr val="0A5470"/>
                </a:solidFill>
                <a:latin typeface="Calibri Light" pitchFamily="34" charset="0"/>
                <a:ea typeface="Calibri Light" pitchFamily="34" charset="-122"/>
                <a:cs typeface="Calibri Light" pitchFamily="34" charset="-120"/>
              </a:rPr>
              <a:t>From Today to Live in 5 Weeks</a:t>
            </a:r>
            <a:endParaRPr lang="en-US" sz="2800" dirty="0"/>
          </a:p>
        </p:txBody>
      </p:sp>
      <p:sp>
        <p:nvSpPr>
          <p:cNvPr id="4" name="Shape 2"/>
          <p:cNvSpPr/>
          <p:nvPr/>
        </p:nvSpPr>
        <p:spPr>
          <a:xfrm>
            <a:off x="457200" y="2057400"/>
            <a:ext cx="8229600" cy="91440"/>
          </a:xfrm>
          <a:prstGeom prst="rect">
            <a:avLst/>
          </a:prstGeom>
          <a:solidFill>
            <a:srgbClr val="CBD5E1"/>
          </a:solidFill>
          <a:ln w="12700">
            <a:solidFill>
              <a:srgbClr val="CBD5E1"/>
            </a:solidFill>
            <a:prstDash val="solid"/>
          </a:ln>
        </p:spPr>
      </p:sp>
      <p:sp>
        <p:nvSpPr>
          <p:cNvPr id="5" name="Shape 3"/>
          <p:cNvSpPr/>
          <p:nvPr/>
        </p:nvSpPr>
        <p:spPr>
          <a:xfrm>
            <a:off x="685800" y="1874520"/>
            <a:ext cx="457200" cy="457200"/>
          </a:xfrm>
          <a:prstGeom prst="ellipse">
            <a:avLst/>
          </a:prstGeom>
          <a:solidFill>
            <a:srgbClr val="1D4ED8"/>
          </a:solidFill>
          <a:ln w="12700">
            <a:solidFill>
              <a:srgbClr val="1D4ED8"/>
            </a:solidFill>
            <a:prstDash val="solid"/>
          </a:ln>
        </p:spPr>
      </p:sp>
      <p:sp>
        <p:nvSpPr>
          <p:cNvPr id="6" name="Text 4"/>
          <p:cNvSpPr/>
          <p:nvPr/>
        </p:nvSpPr>
        <p:spPr>
          <a:xfrm>
            <a:off x="685800" y="1874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p:nvPr/>
        </p:nvSpPr>
        <p:spPr>
          <a:xfrm>
            <a:off x="274320" y="960120"/>
            <a:ext cx="1280160" cy="256032"/>
          </a:xfrm>
          <a:prstGeom prst="rect">
            <a:avLst/>
          </a:prstGeom>
          <a:noFill/>
          <a:ln/>
        </p:spPr>
        <p:txBody>
          <a:bodyPr wrap="square" lIns="0" tIns="0" rIns="0" bIns="0" rtlCol="0" anchor="ctr"/>
          <a:lstStyle/>
          <a:p>
            <a:pPr algn="ctr" indent="0" marL="0">
              <a:buNone/>
            </a:pPr>
            <a:r>
              <a:rPr lang="en-US" sz="900" b="1" dirty="0">
                <a:solidFill>
                  <a:srgbClr val="1D4ED8"/>
                </a:solidFill>
              </a:rPr>
              <a:t>Week 1</a:t>
            </a:r>
            <a:endParaRPr lang="en-US" sz="900" dirty="0"/>
          </a:p>
        </p:txBody>
      </p:sp>
      <p:sp>
        <p:nvSpPr>
          <p:cNvPr id="8" name="Text 6"/>
          <p:cNvSpPr/>
          <p:nvPr/>
        </p:nvSpPr>
        <p:spPr>
          <a:xfrm>
            <a:off x="228600" y="1216152"/>
            <a:ext cx="1371600" cy="685800"/>
          </a:xfrm>
          <a:prstGeom prst="rect">
            <a:avLst/>
          </a:prstGeom>
          <a:noFill/>
          <a:ln/>
        </p:spPr>
        <p:txBody>
          <a:bodyPr wrap="square" lIns="0" tIns="0" rIns="0" bIns="0" rtlCol="0" anchor="ctr"/>
          <a:lstStyle/>
          <a:p>
            <a:pPr algn="ctr" indent="0" marL="0">
              <a:buNone/>
            </a:pPr>
            <a:r>
              <a:rPr lang="en-US" sz="1100" b="1" dirty="0">
                <a:solidFill>
                  <a:srgbClr val="0F172A"/>
                </a:solidFill>
              </a:rPr>
              <a:t>Data Review</a:t>
            </a:r>
            <a:endParaRPr lang="en-US" sz="1100" dirty="0"/>
          </a:p>
          <a:p>
            <a:pPr algn="ctr" indent="0" marL="0">
              <a:buNone/>
            </a:pPr>
            <a:r>
              <a:rPr lang="en-US" sz="1100" b="1" dirty="0">
                <a:solidFill>
                  <a:srgbClr val="0F172A"/>
                </a:solidFill>
              </a:rPr>
              <a:t>+ KPI Alignment</a:t>
            </a:r>
            <a:endParaRPr lang="en-US" sz="1100" dirty="0"/>
          </a:p>
        </p:txBody>
      </p:sp>
      <p:sp>
        <p:nvSpPr>
          <p:cNvPr id="9" name="Text 7"/>
          <p:cNvSpPr/>
          <p:nvPr/>
        </p:nvSpPr>
        <p:spPr>
          <a:xfrm>
            <a:off x="228600" y="2514600"/>
            <a:ext cx="1371600" cy="685800"/>
          </a:xfrm>
          <a:prstGeom prst="rect">
            <a:avLst/>
          </a:prstGeom>
          <a:noFill/>
          <a:ln/>
        </p:spPr>
        <p:txBody>
          <a:bodyPr wrap="square" lIns="0" tIns="0" rIns="0" bIns="0" rtlCol="0" anchor="ctr"/>
          <a:lstStyle/>
          <a:p>
            <a:pPr algn="ctr" indent="0" marL="0">
              <a:buNone/>
            </a:pPr>
            <a:r>
              <a:rPr lang="en-US" sz="950" dirty="0">
                <a:solidFill>
                  <a:srgbClr val="64748B"/>
                </a:solidFill>
              </a:rPr>
              <a:t>We agree on what</a:t>
            </a:r>
            <a:endParaRPr lang="en-US" sz="950" dirty="0"/>
          </a:p>
          <a:p>
            <a:pPr algn="ctr" indent="0" marL="0">
              <a:buNone/>
            </a:pPr>
            <a:r>
              <a:rPr lang="en-US" sz="950" dirty="0">
                <a:solidFill>
                  <a:srgbClr val="64748B"/>
                </a:solidFill>
              </a:rPr>
              <a:t>matters to your team</a:t>
            </a:r>
            <a:endParaRPr lang="en-US" sz="950" dirty="0"/>
          </a:p>
        </p:txBody>
      </p:sp>
      <p:sp>
        <p:nvSpPr>
          <p:cNvPr id="10" name="Shape 8"/>
          <p:cNvSpPr/>
          <p:nvPr/>
        </p:nvSpPr>
        <p:spPr>
          <a:xfrm>
            <a:off x="2286000" y="1874520"/>
            <a:ext cx="457200" cy="457200"/>
          </a:xfrm>
          <a:prstGeom prst="ellipse">
            <a:avLst/>
          </a:prstGeom>
          <a:solidFill>
            <a:srgbClr val="0D6B8A"/>
          </a:solidFill>
          <a:ln w="12700">
            <a:solidFill>
              <a:srgbClr val="0D6B8A"/>
            </a:solidFill>
            <a:prstDash val="solid"/>
          </a:ln>
        </p:spPr>
      </p:sp>
      <p:sp>
        <p:nvSpPr>
          <p:cNvPr id="11" name="Text 9"/>
          <p:cNvSpPr/>
          <p:nvPr/>
        </p:nvSpPr>
        <p:spPr>
          <a:xfrm>
            <a:off x="2286000" y="1874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2" name="Text 10"/>
          <p:cNvSpPr/>
          <p:nvPr/>
        </p:nvSpPr>
        <p:spPr>
          <a:xfrm>
            <a:off x="1874520" y="960120"/>
            <a:ext cx="1280160" cy="256032"/>
          </a:xfrm>
          <a:prstGeom prst="rect">
            <a:avLst/>
          </a:prstGeom>
          <a:noFill/>
          <a:ln/>
        </p:spPr>
        <p:txBody>
          <a:bodyPr wrap="square" lIns="0" tIns="0" rIns="0" bIns="0" rtlCol="0" anchor="ctr"/>
          <a:lstStyle/>
          <a:p>
            <a:pPr algn="ctr" indent="0" marL="0">
              <a:buNone/>
            </a:pPr>
            <a:r>
              <a:rPr lang="en-US" sz="900" b="1" dirty="0">
                <a:solidFill>
                  <a:srgbClr val="0D6B8A"/>
                </a:solidFill>
              </a:rPr>
              <a:t>Week 2</a:t>
            </a:r>
            <a:endParaRPr lang="en-US" sz="900" dirty="0"/>
          </a:p>
        </p:txBody>
      </p:sp>
      <p:sp>
        <p:nvSpPr>
          <p:cNvPr id="13" name="Text 11"/>
          <p:cNvSpPr/>
          <p:nvPr/>
        </p:nvSpPr>
        <p:spPr>
          <a:xfrm>
            <a:off x="1828800" y="1216152"/>
            <a:ext cx="1371600" cy="685800"/>
          </a:xfrm>
          <a:prstGeom prst="rect">
            <a:avLst/>
          </a:prstGeom>
          <a:noFill/>
          <a:ln/>
        </p:spPr>
        <p:txBody>
          <a:bodyPr wrap="square" lIns="0" tIns="0" rIns="0" bIns="0" rtlCol="0" anchor="ctr"/>
          <a:lstStyle/>
          <a:p>
            <a:pPr algn="ctr" indent="0" marL="0">
              <a:buNone/>
            </a:pPr>
            <a:r>
              <a:rPr lang="en-US" sz="1100" b="1" dirty="0">
                <a:solidFill>
                  <a:srgbClr val="0F172A"/>
                </a:solidFill>
              </a:rPr>
              <a:t>Dashboard</a:t>
            </a:r>
            <a:endParaRPr lang="en-US" sz="1100" dirty="0"/>
          </a:p>
          <a:p>
            <a:pPr algn="ctr" indent="0" marL="0">
              <a:buNone/>
            </a:pPr>
            <a:r>
              <a:rPr lang="en-US" sz="1100" b="1" dirty="0">
                <a:solidFill>
                  <a:srgbClr val="0F172A"/>
                </a:solidFill>
              </a:rPr>
              <a:t>Live</a:t>
            </a:r>
            <a:endParaRPr lang="en-US" sz="1100" dirty="0"/>
          </a:p>
        </p:txBody>
      </p:sp>
      <p:sp>
        <p:nvSpPr>
          <p:cNvPr id="14" name="Text 12"/>
          <p:cNvSpPr/>
          <p:nvPr/>
        </p:nvSpPr>
        <p:spPr>
          <a:xfrm>
            <a:off x="1828800" y="2514600"/>
            <a:ext cx="1371600" cy="685800"/>
          </a:xfrm>
          <a:prstGeom prst="rect">
            <a:avLst/>
          </a:prstGeom>
          <a:noFill/>
          <a:ln/>
        </p:spPr>
        <p:txBody>
          <a:bodyPr wrap="square" lIns="0" tIns="0" rIns="0" bIns="0" rtlCol="0" anchor="ctr"/>
          <a:lstStyle/>
          <a:p>
            <a:pPr algn="ctr" indent="0" marL="0">
              <a:buNone/>
            </a:pPr>
            <a:r>
              <a:rPr lang="en-US" sz="950" dirty="0">
                <a:solidFill>
                  <a:srgbClr val="64748B"/>
                </a:solidFill>
              </a:rPr>
              <a:t>Working software</a:t>
            </a:r>
            <a:endParaRPr lang="en-US" sz="950" dirty="0"/>
          </a:p>
          <a:p>
            <a:pPr algn="ctr" indent="0" marL="0">
              <a:buNone/>
            </a:pPr>
            <a:r>
              <a:rPr lang="en-US" sz="950" dirty="0">
                <a:solidFill>
                  <a:srgbClr val="64748B"/>
                </a:solidFill>
              </a:rPr>
              <a:t>visible to your team</a:t>
            </a:r>
            <a:endParaRPr lang="en-US" sz="950" dirty="0"/>
          </a:p>
        </p:txBody>
      </p:sp>
      <p:sp>
        <p:nvSpPr>
          <p:cNvPr id="15" name="Shape 13"/>
          <p:cNvSpPr/>
          <p:nvPr/>
        </p:nvSpPr>
        <p:spPr>
          <a:xfrm>
            <a:off x="4343400" y="1874520"/>
            <a:ext cx="457200" cy="457200"/>
          </a:xfrm>
          <a:prstGeom prst="ellipse">
            <a:avLst/>
          </a:prstGeom>
          <a:solidFill>
            <a:srgbClr val="0D6B8A"/>
          </a:solidFill>
          <a:ln w="12700">
            <a:solidFill>
              <a:srgbClr val="0D6B8A"/>
            </a:solidFill>
            <a:prstDash val="solid"/>
          </a:ln>
        </p:spPr>
      </p:sp>
      <p:sp>
        <p:nvSpPr>
          <p:cNvPr id="16" name="Text 14"/>
          <p:cNvSpPr/>
          <p:nvPr/>
        </p:nvSpPr>
        <p:spPr>
          <a:xfrm>
            <a:off x="4343400" y="1874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7" name="Text 15"/>
          <p:cNvSpPr/>
          <p:nvPr/>
        </p:nvSpPr>
        <p:spPr>
          <a:xfrm>
            <a:off x="3931920" y="960120"/>
            <a:ext cx="1280160" cy="256032"/>
          </a:xfrm>
          <a:prstGeom prst="rect">
            <a:avLst/>
          </a:prstGeom>
          <a:noFill/>
          <a:ln/>
        </p:spPr>
        <p:txBody>
          <a:bodyPr wrap="square" lIns="0" tIns="0" rIns="0" bIns="0" rtlCol="0" anchor="ctr"/>
          <a:lstStyle/>
          <a:p>
            <a:pPr algn="ctr" indent="0" marL="0">
              <a:buNone/>
            </a:pPr>
            <a:r>
              <a:rPr lang="en-US" sz="900" b="1" dirty="0">
                <a:solidFill>
                  <a:srgbClr val="0D6B8A"/>
                </a:solidFill>
              </a:rPr>
              <a:t>Week 3</a:t>
            </a:r>
            <a:endParaRPr lang="en-US" sz="900" dirty="0"/>
          </a:p>
        </p:txBody>
      </p:sp>
      <p:sp>
        <p:nvSpPr>
          <p:cNvPr id="18" name="Text 16"/>
          <p:cNvSpPr/>
          <p:nvPr/>
        </p:nvSpPr>
        <p:spPr>
          <a:xfrm>
            <a:off x="3886200" y="1216152"/>
            <a:ext cx="1371600" cy="685800"/>
          </a:xfrm>
          <a:prstGeom prst="rect">
            <a:avLst/>
          </a:prstGeom>
          <a:noFill/>
          <a:ln/>
        </p:spPr>
        <p:txBody>
          <a:bodyPr wrap="square" lIns="0" tIns="0" rIns="0" bIns="0" rtlCol="0" anchor="ctr"/>
          <a:lstStyle/>
          <a:p>
            <a:pPr algn="ctr" indent="0" marL="0">
              <a:buNone/>
            </a:pPr>
            <a:r>
              <a:rPr lang="en-US" sz="1100" b="1" dirty="0">
                <a:solidFill>
                  <a:srgbClr val="0F172A"/>
                </a:solidFill>
              </a:rPr>
              <a:t>AI Insights</a:t>
            </a:r>
            <a:endParaRPr lang="en-US" sz="1100" dirty="0"/>
          </a:p>
          <a:p>
            <a:pPr algn="ctr" indent="0" marL="0">
              <a:buNone/>
            </a:pPr>
            <a:r>
              <a:rPr lang="en-US" sz="1100" b="1" dirty="0">
                <a:solidFill>
                  <a:srgbClr val="0F172A"/>
                </a:solidFill>
              </a:rPr>
              <a:t>+ n8n Workflow</a:t>
            </a:r>
            <a:endParaRPr lang="en-US" sz="1100" dirty="0"/>
          </a:p>
        </p:txBody>
      </p:sp>
      <p:sp>
        <p:nvSpPr>
          <p:cNvPr id="19" name="Text 17"/>
          <p:cNvSpPr/>
          <p:nvPr/>
        </p:nvSpPr>
        <p:spPr>
          <a:xfrm>
            <a:off x="3886200" y="2514600"/>
            <a:ext cx="1371600" cy="685800"/>
          </a:xfrm>
          <a:prstGeom prst="rect">
            <a:avLst/>
          </a:prstGeom>
          <a:noFill/>
          <a:ln/>
        </p:spPr>
        <p:txBody>
          <a:bodyPr wrap="square" lIns="0" tIns="0" rIns="0" bIns="0" rtlCol="0" anchor="ctr"/>
          <a:lstStyle/>
          <a:p>
            <a:pPr algn="ctr" indent="0" marL="0">
              <a:buNone/>
            </a:pPr>
            <a:r>
              <a:rPr lang="en-US" sz="950" dirty="0">
                <a:solidFill>
                  <a:srgbClr val="64748B"/>
                </a:solidFill>
              </a:rPr>
              <a:t>Automation running</a:t>
            </a:r>
            <a:endParaRPr lang="en-US" sz="950" dirty="0"/>
          </a:p>
          <a:p>
            <a:pPr algn="ctr" indent="0" marL="0">
              <a:buNone/>
            </a:pPr>
            <a:r>
              <a:rPr lang="en-US" sz="950" dirty="0">
                <a:solidFill>
                  <a:srgbClr val="64748B"/>
                </a:solidFill>
              </a:rPr>
              <a:t>on your real data</a:t>
            </a:r>
            <a:endParaRPr lang="en-US" sz="950" dirty="0"/>
          </a:p>
        </p:txBody>
      </p:sp>
      <p:sp>
        <p:nvSpPr>
          <p:cNvPr id="20" name="Shape 18"/>
          <p:cNvSpPr/>
          <p:nvPr/>
        </p:nvSpPr>
        <p:spPr>
          <a:xfrm>
            <a:off x="6400800" y="1874520"/>
            <a:ext cx="457200" cy="457200"/>
          </a:xfrm>
          <a:prstGeom prst="ellipse">
            <a:avLst/>
          </a:prstGeom>
          <a:solidFill>
            <a:srgbClr val="E8762B"/>
          </a:solidFill>
          <a:ln w="12700">
            <a:solidFill>
              <a:srgbClr val="E8762B"/>
            </a:solidFill>
            <a:prstDash val="solid"/>
          </a:ln>
        </p:spPr>
      </p:sp>
      <p:sp>
        <p:nvSpPr>
          <p:cNvPr id="21" name="Text 19"/>
          <p:cNvSpPr/>
          <p:nvPr/>
        </p:nvSpPr>
        <p:spPr>
          <a:xfrm>
            <a:off x="6400800" y="18745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2" name="Text 20"/>
          <p:cNvSpPr/>
          <p:nvPr/>
        </p:nvSpPr>
        <p:spPr>
          <a:xfrm>
            <a:off x="5989320" y="960120"/>
            <a:ext cx="1280160" cy="256032"/>
          </a:xfrm>
          <a:prstGeom prst="rect">
            <a:avLst/>
          </a:prstGeom>
          <a:noFill/>
          <a:ln/>
        </p:spPr>
        <p:txBody>
          <a:bodyPr wrap="square" lIns="0" tIns="0" rIns="0" bIns="0" rtlCol="0" anchor="ctr"/>
          <a:lstStyle/>
          <a:p>
            <a:pPr algn="ctr" indent="0" marL="0">
              <a:buNone/>
            </a:pPr>
            <a:r>
              <a:rPr lang="en-US" sz="900" b="1" dirty="0">
                <a:solidFill>
                  <a:srgbClr val="E8762B"/>
                </a:solidFill>
              </a:rPr>
              <a:t>Week 4</a:t>
            </a:r>
            <a:endParaRPr lang="en-US" sz="900" dirty="0"/>
          </a:p>
        </p:txBody>
      </p:sp>
      <p:sp>
        <p:nvSpPr>
          <p:cNvPr id="23" name="Text 21"/>
          <p:cNvSpPr/>
          <p:nvPr/>
        </p:nvSpPr>
        <p:spPr>
          <a:xfrm>
            <a:off x="5943600" y="1216152"/>
            <a:ext cx="1371600" cy="685800"/>
          </a:xfrm>
          <a:prstGeom prst="rect">
            <a:avLst/>
          </a:prstGeom>
          <a:noFill/>
          <a:ln/>
        </p:spPr>
        <p:txBody>
          <a:bodyPr wrap="square" lIns="0" tIns="0" rIns="0" bIns="0" rtlCol="0" anchor="ctr"/>
          <a:lstStyle/>
          <a:p>
            <a:pPr algn="ctr" indent="0" marL="0">
              <a:buNone/>
            </a:pPr>
            <a:r>
              <a:rPr lang="en-US" sz="1100" b="1" dirty="0">
                <a:solidFill>
                  <a:srgbClr val="0F172A"/>
                </a:solidFill>
              </a:rPr>
              <a:t>Monitoring</a:t>
            </a:r>
            <a:endParaRPr lang="en-US" sz="1100" dirty="0"/>
          </a:p>
          <a:p>
            <a:pPr algn="ctr" indent="0" marL="0">
              <a:buNone/>
            </a:pPr>
            <a:r>
              <a:rPr lang="en-US" sz="1100" b="1" dirty="0">
                <a:solidFill>
                  <a:srgbClr val="0F172A"/>
                </a:solidFill>
              </a:rPr>
              <a:t>+ Testing</a:t>
            </a:r>
            <a:endParaRPr lang="en-US" sz="1100" dirty="0"/>
          </a:p>
        </p:txBody>
      </p:sp>
      <p:sp>
        <p:nvSpPr>
          <p:cNvPr id="24" name="Text 22"/>
          <p:cNvSpPr/>
          <p:nvPr/>
        </p:nvSpPr>
        <p:spPr>
          <a:xfrm>
            <a:off x="5943600" y="2514600"/>
            <a:ext cx="1371600" cy="685800"/>
          </a:xfrm>
          <a:prstGeom prst="rect">
            <a:avLst/>
          </a:prstGeom>
          <a:noFill/>
          <a:ln/>
        </p:spPr>
        <p:txBody>
          <a:bodyPr wrap="square" lIns="0" tIns="0" rIns="0" bIns="0" rtlCol="0" anchor="ctr"/>
          <a:lstStyle/>
          <a:p>
            <a:pPr algn="ctr" indent="0" marL="0">
              <a:buNone/>
            </a:pPr>
            <a:r>
              <a:rPr lang="en-US" sz="950" dirty="0">
                <a:solidFill>
                  <a:srgbClr val="64748B"/>
                </a:solidFill>
              </a:rPr>
              <a:t>Quality benchmarks</a:t>
            </a:r>
            <a:endParaRPr lang="en-US" sz="950" dirty="0"/>
          </a:p>
          <a:p>
            <a:pPr algn="ctr" indent="0" marL="0">
              <a:buNone/>
            </a:pPr>
            <a:r>
              <a:rPr lang="en-US" sz="950" dirty="0">
                <a:solidFill>
                  <a:srgbClr val="64748B"/>
                </a:solidFill>
              </a:rPr>
              <a:t>set and verified</a:t>
            </a:r>
            <a:endParaRPr lang="en-US" sz="950" dirty="0"/>
          </a:p>
        </p:txBody>
      </p:sp>
      <p:sp>
        <p:nvSpPr>
          <p:cNvPr id="25" name="Shape 23"/>
          <p:cNvSpPr/>
          <p:nvPr/>
        </p:nvSpPr>
        <p:spPr>
          <a:xfrm>
            <a:off x="8028432" y="1810512"/>
            <a:ext cx="585216" cy="585216"/>
          </a:xfrm>
          <a:prstGeom prst="ellipse">
            <a:avLst/>
          </a:prstGeom>
          <a:solidFill>
            <a:srgbClr val="E8762B"/>
          </a:solidFill>
          <a:ln w="12700">
            <a:solidFill>
              <a:srgbClr val="E8762B"/>
            </a:solidFill>
            <a:prstDash val="solid"/>
          </a:ln>
        </p:spPr>
      </p:sp>
      <p:sp>
        <p:nvSpPr>
          <p:cNvPr id="26" name="Text 24"/>
          <p:cNvSpPr/>
          <p:nvPr/>
        </p:nvSpPr>
        <p:spPr>
          <a:xfrm>
            <a:off x="8028432" y="1810512"/>
            <a:ext cx="585216" cy="585216"/>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7" name="Text 25"/>
          <p:cNvSpPr/>
          <p:nvPr/>
        </p:nvSpPr>
        <p:spPr>
          <a:xfrm>
            <a:off x="7680960" y="960120"/>
            <a:ext cx="1280160" cy="256032"/>
          </a:xfrm>
          <a:prstGeom prst="rect">
            <a:avLst/>
          </a:prstGeom>
          <a:noFill/>
          <a:ln/>
        </p:spPr>
        <p:txBody>
          <a:bodyPr wrap="square" lIns="0" tIns="0" rIns="0" bIns="0" rtlCol="0" anchor="ctr"/>
          <a:lstStyle/>
          <a:p>
            <a:pPr algn="ctr" indent="0" marL="0">
              <a:buNone/>
            </a:pPr>
            <a:r>
              <a:rPr lang="en-US" sz="900" b="1" dirty="0">
                <a:solidFill>
                  <a:srgbClr val="E8762B"/>
                </a:solidFill>
              </a:rPr>
              <a:t>Week 5</a:t>
            </a:r>
            <a:endParaRPr lang="en-US" sz="900" dirty="0"/>
          </a:p>
        </p:txBody>
      </p:sp>
      <p:sp>
        <p:nvSpPr>
          <p:cNvPr id="28" name="Text 26"/>
          <p:cNvSpPr/>
          <p:nvPr/>
        </p:nvSpPr>
        <p:spPr>
          <a:xfrm>
            <a:off x="7635240" y="1216152"/>
            <a:ext cx="1371600" cy="685800"/>
          </a:xfrm>
          <a:prstGeom prst="rect">
            <a:avLst/>
          </a:prstGeom>
          <a:noFill/>
          <a:ln/>
        </p:spPr>
        <p:txBody>
          <a:bodyPr wrap="square" lIns="0" tIns="0" rIns="0" bIns="0" rtlCol="0" anchor="ctr"/>
          <a:lstStyle/>
          <a:p>
            <a:pPr algn="ctr" indent="0" marL="0">
              <a:buNone/>
            </a:pPr>
            <a:r>
              <a:rPr lang="en-US" sz="1100" b="1" dirty="0">
                <a:solidFill>
                  <a:srgbClr val="0F172A"/>
                </a:solidFill>
              </a:rPr>
              <a:t>Handoff</a:t>
            </a:r>
            <a:endParaRPr lang="en-US" sz="1100" dirty="0"/>
          </a:p>
          <a:p>
            <a:pPr algn="ctr" indent="0" marL="0">
              <a:buNone/>
            </a:pPr>
            <a:r>
              <a:rPr lang="en-US" sz="1100" b="1" dirty="0">
                <a:solidFill>
                  <a:srgbClr val="0F172A"/>
                </a:solidFill>
              </a:rPr>
              <a:t>+ Training</a:t>
            </a:r>
            <a:endParaRPr lang="en-US" sz="1100" dirty="0"/>
          </a:p>
        </p:txBody>
      </p:sp>
      <p:sp>
        <p:nvSpPr>
          <p:cNvPr id="29" name="Text 27"/>
          <p:cNvSpPr/>
          <p:nvPr/>
        </p:nvSpPr>
        <p:spPr>
          <a:xfrm>
            <a:off x="7635240" y="2514600"/>
            <a:ext cx="1371600" cy="685800"/>
          </a:xfrm>
          <a:prstGeom prst="rect">
            <a:avLst/>
          </a:prstGeom>
          <a:noFill/>
          <a:ln/>
        </p:spPr>
        <p:txBody>
          <a:bodyPr wrap="square" lIns="0" tIns="0" rIns="0" bIns="0" rtlCol="0" anchor="ctr"/>
          <a:lstStyle/>
          <a:p>
            <a:pPr algn="ctr" indent="0" marL="0">
              <a:buNone/>
            </a:pPr>
            <a:r>
              <a:rPr lang="en-US" sz="950" dirty="0">
                <a:solidFill>
                  <a:srgbClr val="64748B"/>
                </a:solidFill>
              </a:rPr>
              <a:t>Your team</a:t>
            </a:r>
            <a:endParaRPr lang="en-US" sz="950" dirty="0"/>
          </a:p>
          <a:p>
            <a:pPr algn="ctr" indent="0" marL="0">
              <a:buNone/>
            </a:pPr>
            <a:r>
              <a:rPr lang="en-US" sz="950" dirty="0">
                <a:solidFill>
                  <a:srgbClr val="64748B"/>
                </a:solidFill>
              </a:rPr>
              <a:t>owns it fully</a:t>
            </a:r>
            <a:endParaRPr lang="en-US" sz="950" dirty="0"/>
          </a:p>
        </p:txBody>
      </p:sp>
      <p:sp>
        <p:nvSpPr>
          <p:cNvPr id="30" name="Shape 28"/>
          <p:cNvSpPr/>
          <p:nvPr/>
        </p:nvSpPr>
        <p:spPr>
          <a:xfrm>
            <a:off x="457200" y="3337560"/>
            <a:ext cx="8229600" cy="457200"/>
          </a:xfrm>
          <a:prstGeom prst="rect">
            <a:avLst/>
          </a:prstGeom>
          <a:solidFill>
            <a:srgbClr val="E8F4F8"/>
          </a:solidFill>
          <a:ln w="12700">
            <a:solidFill>
              <a:srgbClr val="0D6B8A"/>
            </a:solidFill>
            <a:prstDash val="solid"/>
          </a:ln>
        </p:spPr>
      </p:sp>
      <p:sp>
        <p:nvSpPr>
          <p:cNvPr id="31" name="Text 29"/>
          <p:cNvSpPr/>
          <p:nvPr/>
        </p:nvSpPr>
        <p:spPr>
          <a:xfrm>
            <a:off x="457200" y="3337560"/>
            <a:ext cx="8229600" cy="457200"/>
          </a:xfrm>
          <a:prstGeom prst="rect">
            <a:avLst/>
          </a:prstGeom>
          <a:noFill/>
          <a:ln/>
        </p:spPr>
        <p:txBody>
          <a:bodyPr wrap="square" lIns="0" tIns="0" rIns="0" bIns="0" rtlCol="0" anchor="ctr"/>
          <a:lstStyle/>
          <a:p>
            <a:pPr algn="ctr" indent="0" marL="0">
              <a:buNone/>
            </a:pPr>
            <a:r>
              <a:rPr lang="en-US" sz="1250" i="1" dirty="0">
                <a:solidFill>
                  <a:srgbClr val="0A5470"/>
                </a:solidFill>
              </a:rPr>
              <a:t>You're in control at every checkpoint. Nothing ships without your sign-off.</a:t>
            </a:r>
            <a:endParaRPr lang="en-US" sz="1250" dirty="0"/>
          </a:p>
        </p:txBody>
      </p:sp>
      <p:sp>
        <p:nvSpPr>
          <p:cNvPr id="32" name="Text 30"/>
          <p:cNvSpPr/>
          <p:nvPr/>
        </p:nvSpPr>
        <p:spPr>
          <a:xfrm>
            <a:off x="457200" y="3931920"/>
            <a:ext cx="2286000" cy="274320"/>
          </a:xfrm>
          <a:prstGeom prst="rect">
            <a:avLst/>
          </a:prstGeom>
          <a:noFill/>
          <a:ln/>
        </p:spPr>
        <p:txBody>
          <a:bodyPr wrap="square" lIns="0" tIns="0" rIns="0" bIns="0" rtlCol="0" anchor="ctr"/>
          <a:lstStyle/>
          <a:p>
            <a:pPr indent="0" marL="0">
              <a:buNone/>
            </a:pPr>
            <a:r>
              <a:rPr lang="en-US" sz="1100" b="1" dirty="0">
                <a:solidFill>
                  <a:srgbClr val="0A5470"/>
                </a:solidFill>
              </a:rPr>
              <a:t>What you receive:</a:t>
            </a:r>
            <a:endParaRPr lang="en-US" sz="1100" dirty="0"/>
          </a:p>
        </p:txBody>
      </p:sp>
      <p:sp>
        <p:nvSpPr>
          <p:cNvPr id="33" name="Text 31"/>
          <p:cNvSpPr/>
          <p:nvPr/>
        </p:nvSpPr>
        <p:spPr>
          <a:xfrm>
            <a:off x="457200" y="4224528"/>
            <a:ext cx="685800" cy="182880"/>
          </a:xfrm>
          <a:prstGeom prst="rect">
            <a:avLst/>
          </a:prstGeom>
          <a:noFill/>
          <a:ln/>
        </p:spPr>
        <p:txBody>
          <a:bodyPr wrap="square" lIns="0" tIns="0" rIns="0" bIns="0" rtlCol="0" anchor="ctr"/>
          <a:lstStyle/>
          <a:p>
            <a:pPr indent="0" marL="0">
              <a:buNone/>
            </a:pPr>
            <a:r>
              <a:rPr lang="en-US" sz="1000" b="1" dirty="0">
                <a:solidFill>
                  <a:srgbClr val="0D6B8A"/>
                </a:solidFill>
              </a:rPr>
              <a:t>Week 2:</a:t>
            </a:r>
            <a:endParaRPr lang="en-US" sz="1000" dirty="0"/>
          </a:p>
        </p:txBody>
      </p:sp>
      <p:sp>
        <p:nvSpPr>
          <p:cNvPr id="34" name="Text 32"/>
          <p:cNvSpPr/>
          <p:nvPr/>
        </p:nvSpPr>
        <p:spPr>
          <a:xfrm>
            <a:off x="1143000" y="4224528"/>
            <a:ext cx="5029200" cy="182880"/>
          </a:xfrm>
          <a:prstGeom prst="rect">
            <a:avLst/>
          </a:prstGeom>
          <a:noFill/>
          <a:ln/>
        </p:spPr>
        <p:txBody>
          <a:bodyPr wrap="square" lIns="0" tIns="0" rIns="0" bIns="0" rtlCol="0" anchor="ctr"/>
          <a:lstStyle/>
          <a:p>
            <a:pPr indent="0" marL="0">
              <a:buNone/>
            </a:pPr>
            <a:r>
              <a:rPr lang="en-US" sz="1000" dirty="0">
                <a:solidFill>
                  <a:srgbClr val="334155"/>
                </a:solidFill>
              </a:rPr>
              <a:t>Working dashboard with your actual data</a:t>
            </a:r>
            <a:endParaRPr lang="en-US" sz="1000" dirty="0"/>
          </a:p>
        </p:txBody>
      </p:sp>
      <p:sp>
        <p:nvSpPr>
          <p:cNvPr id="35" name="Text 33"/>
          <p:cNvSpPr/>
          <p:nvPr/>
        </p:nvSpPr>
        <p:spPr>
          <a:xfrm>
            <a:off x="457200" y="4425696"/>
            <a:ext cx="685800" cy="182880"/>
          </a:xfrm>
          <a:prstGeom prst="rect">
            <a:avLst/>
          </a:prstGeom>
          <a:noFill/>
          <a:ln/>
        </p:spPr>
        <p:txBody>
          <a:bodyPr wrap="square" lIns="0" tIns="0" rIns="0" bIns="0" rtlCol="0" anchor="ctr"/>
          <a:lstStyle/>
          <a:p>
            <a:pPr indent="0" marL="0">
              <a:buNone/>
            </a:pPr>
            <a:r>
              <a:rPr lang="en-US" sz="1000" b="1" dirty="0">
                <a:solidFill>
                  <a:srgbClr val="0D6B8A"/>
                </a:solidFill>
              </a:rPr>
              <a:t>Week 3:</a:t>
            </a:r>
            <a:endParaRPr lang="en-US" sz="1000" dirty="0"/>
          </a:p>
        </p:txBody>
      </p:sp>
      <p:sp>
        <p:nvSpPr>
          <p:cNvPr id="36" name="Text 34"/>
          <p:cNvSpPr/>
          <p:nvPr/>
        </p:nvSpPr>
        <p:spPr>
          <a:xfrm>
            <a:off x="1143000" y="4425696"/>
            <a:ext cx="5029200" cy="182880"/>
          </a:xfrm>
          <a:prstGeom prst="rect">
            <a:avLst/>
          </a:prstGeom>
          <a:noFill/>
          <a:ln/>
        </p:spPr>
        <p:txBody>
          <a:bodyPr wrap="square" lIns="0" tIns="0" rIns="0" bIns="0" rtlCol="0" anchor="ctr"/>
          <a:lstStyle/>
          <a:p>
            <a:pPr indent="0" marL="0">
              <a:buNone/>
            </a:pPr>
            <a:r>
              <a:rPr lang="en-US" sz="1000" dirty="0">
                <a:solidFill>
                  <a:srgbClr val="334155"/>
                </a:solidFill>
              </a:rPr>
              <a:t>AI insight engine + automated reminders live</a:t>
            </a:r>
            <a:endParaRPr lang="en-US" sz="1000" dirty="0"/>
          </a:p>
        </p:txBody>
      </p:sp>
      <p:sp>
        <p:nvSpPr>
          <p:cNvPr id="37" name="Text 35"/>
          <p:cNvSpPr/>
          <p:nvPr/>
        </p:nvSpPr>
        <p:spPr>
          <a:xfrm>
            <a:off x="457200" y="4626864"/>
            <a:ext cx="685800" cy="182880"/>
          </a:xfrm>
          <a:prstGeom prst="rect">
            <a:avLst/>
          </a:prstGeom>
          <a:noFill/>
          <a:ln/>
        </p:spPr>
        <p:txBody>
          <a:bodyPr wrap="square" lIns="0" tIns="0" rIns="0" bIns="0" rtlCol="0" anchor="ctr"/>
          <a:lstStyle/>
          <a:p>
            <a:pPr indent="0" marL="0">
              <a:buNone/>
            </a:pPr>
            <a:r>
              <a:rPr lang="en-US" sz="1000" b="1" dirty="0">
                <a:solidFill>
                  <a:srgbClr val="0D6B8A"/>
                </a:solidFill>
              </a:rPr>
              <a:t>Week 5:</a:t>
            </a:r>
            <a:endParaRPr lang="en-US" sz="1000" dirty="0"/>
          </a:p>
        </p:txBody>
      </p:sp>
      <p:sp>
        <p:nvSpPr>
          <p:cNvPr id="38" name="Text 36"/>
          <p:cNvSpPr/>
          <p:nvPr/>
        </p:nvSpPr>
        <p:spPr>
          <a:xfrm>
            <a:off x="1143000" y="4626864"/>
            <a:ext cx="5029200" cy="182880"/>
          </a:xfrm>
          <a:prstGeom prst="rect">
            <a:avLst/>
          </a:prstGeom>
          <a:noFill/>
          <a:ln/>
        </p:spPr>
        <p:txBody>
          <a:bodyPr wrap="square" lIns="0" tIns="0" rIns="0" bIns="0" rtlCol="0" anchor="ctr"/>
          <a:lstStyle/>
          <a:p>
            <a:pPr indent="0" marL="0">
              <a:buNone/>
            </a:pPr>
            <a:r>
              <a:rPr lang="en-US" sz="1000" dirty="0">
                <a:solidFill>
                  <a:srgbClr val="334155"/>
                </a:solidFill>
              </a:rPr>
              <a:t>Full documentation + training for your team</a:t>
            </a:r>
            <a:endParaRPr lang="en-US" sz="1000" dirty="0"/>
          </a:p>
        </p:txBody>
      </p:sp>
      <p:sp>
        <p:nvSpPr>
          <p:cNvPr id="39" name="Shape 37"/>
          <p:cNvSpPr/>
          <p:nvPr/>
        </p:nvSpPr>
        <p:spPr>
          <a:xfrm>
            <a:off x="0" y="4937760"/>
            <a:ext cx="9144000" cy="205740"/>
          </a:xfrm>
          <a:prstGeom prst="rect">
            <a:avLst/>
          </a:prstGeom>
          <a:solidFill>
            <a:srgbClr val="0A5470"/>
          </a:solidFill>
          <a:ln w="12700">
            <a:solidFill>
              <a:srgbClr val="0A5470"/>
            </a:solidFill>
            <a:prstDash val="solid"/>
          </a:ln>
        </p:spPr>
      </p:sp>
      <p:sp>
        <p:nvSpPr>
          <p:cNvPr id="40" name="Text 38"/>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9EC9DC"/>
                </a:solidFill>
              </a:rPr>
              <a:t>10 / 11</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547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E8762B"/>
          </a:solidFill>
          <a:ln w="12700">
            <a:solidFill>
              <a:srgbClr val="E8762B"/>
            </a:solidFill>
            <a:prstDash val="solid"/>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Light" pitchFamily="34" charset="0"/>
                <a:ea typeface="Calibri Light" pitchFamily="34" charset="-122"/>
                <a:cs typeface="Calibri Light" pitchFamily="34" charset="-120"/>
              </a:rPr>
              <a:t>Let's Start With Your Data</a:t>
            </a:r>
            <a:endParaRPr lang="en-US" sz="3200" dirty="0"/>
          </a:p>
        </p:txBody>
      </p:sp>
      <p:sp>
        <p:nvSpPr>
          <p:cNvPr id="4" name="Shape 2"/>
          <p:cNvSpPr/>
          <p:nvPr/>
        </p:nvSpPr>
        <p:spPr>
          <a:xfrm>
            <a:off x="365760" y="960120"/>
            <a:ext cx="2697480" cy="2743200"/>
          </a:xfrm>
          <a:prstGeom prst="rect">
            <a:avLst/>
          </a:prstGeom>
          <a:solidFill>
            <a:srgbClr val="0A5470"/>
          </a:solidFill>
          <a:ln w="25400">
            <a:solidFill>
              <a:srgbClr val="0D6B8A"/>
            </a:solidFill>
            <a:prstDash val="solid"/>
          </a:ln>
          <a:effectLst>
            <a:outerShdw sx="100000" sy="100000" kx="0" ky="0" algn="bl" rotWithShape="0" blurRad="101600" dist="38100" dir="8100000">
              <a:srgbClr val="000000">
                <a:alpha val="10000"/>
              </a:srgbClr>
            </a:outerShdw>
          </a:effectLst>
        </p:spPr>
      </p:sp>
      <p:sp>
        <p:nvSpPr>
          <p:cNvPr id="5" name="Shape 3"/>
          <p:cNvSpPr/>
          <p:nvPr/>
        </p:nvSpPr>
        <p:spPr>
          <a:xfrm>
            <a:off x="1371600" y="1097280"/>
            <a:ext cx="685800" cy="685800"/>
          </a:xfrm>
          <a:prstGeom prst="ellipse">
            <a:avLst/>
          </a:prstGeom>
          <a:solidFill>
            <a:srgbClr val="0D6B8A"/>
          </a:solidFill>
          <a:ln w="12700">
            <a:solidFill>
              <a:srgbClr val="0D6B8A"/>
            </a:solidFill>
            <a:prstDash val="solid"/>
          </a:ln>
        </p:spPr>
      </p:sp>
      <p:sp>
        <p:nvSpPr>
          <p:cNvPr id="6" name="Text 4"/>
          <p:cNvSpPr/>
          <p:nvPr/>
        </p:nvSpPr>
        <p:spPr>
          <a:xfrm>
            <a:off x="1371600" y="1097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7" name="Text 5"/>
          <p:cNvSpPr/>
          <p:nvPr/>
        </p:nvSpPr>
        <p:spPr>
          <a:xfrm>
            <a:off x="502920" y="1901952"/>
            <a:ext cx="2423160" cy="594360"/>
          </a:xfrm>
          <a:prstGeom prst="rect">
            <a:avLst/>
          </a:prstGeom>
          <a:noFill/>
          <a:ln/>
        </p:spPr>
        <p:txBody>
          <a:bodyPr wrap="square" lIns="0" tIns="0" rIns="0" bIns="0" rtlCol="0" anchor="ctr"/>
          <a:lstStyle/>
          <a:p>
            <a:pPr algn="ctr" indent="0" marL="0">
              <a:buNone/>
            </a:pPr>
            <a:r>
              <a:rPr lang="en-US" sz="1300" b="1" dirty="0">
                <a:solidFill>
                  <a:srgbClr val="FFFFFF"/>
                </a:solidFill>
              </a:rPr>
              <a:t>Share one month of appointment data</a:t>
            </a:r>
            <a:endParaRPr lang="en-US" sz="1300" dirty="0"/>
          </a:p>
        </p:txBody>
      </p:sp>
      <p:sp>
        <p:nvSpPr>
          <p:cNvPr id="8" name="Text 6"/>
          <p:cNvSpPr/>
          <p:nvPr/>
        </p:nvSpPr>
        <p:spPr>
          <a:xfrm>
            <a:off x="502920" y="2542032"/>
            <a:ext cx="2423160" cy="868680"/>
          </a:xfrm>
          <a:prstGeom prst="rect">
            <a:avLst/>
          </a:prstGeom>
          <a:noFill/>
          <a:ln/>
        </p:spPr>
        <p:txBody>
          <a:bodyPr wrap="square" lIns="0" tIns="0" rIns="0" bIns="0" rtlCol="0" anchor="ctr"/>
          <a:lstStyle/>
          <a:p>
            <a:pPr algn="ctr" indent="0" marL="0">
              <a:spcAft>
                <a:spcPts val="300"/>
              </a:spcAft>
              <a:buNone/>
            </a:pPr>
            <a:r>
              <a:rPr lang="en-US" sz="1050" dirty="0">
                <a:solidFill>
                  <a:srgbClr val="9EC9DC"/>
                </a:solidFill>
              </a:rPr>
              <a:t>Anonymised — no patient names needed. Just dates, outcomes, reminder flags.</a:t>
            </a:r>
            <a:endParaRPr lang="en-US" sz="1050" dirty="0"/>
          </a:p>
        </p:txBody>
      </p:sp>
      <p:sp>
        <p:nvSpPr>
          <p:cNvPr id="9" name="Shape 7"/>
          <p:cNvSpPr/>
          <p:nvPr/>
        </p:nvSpPr>
        <p:spPr>
          <a:xfrm>
            <a:off x="3246120" y="960120"/>
            <a:ext cx="2697480" cy="2743200"/>
          </a:xfrm>
          <a:prstGeom prst="rect">
            <a:avLst/>
          </a:prstGeom>
          <a:solidFill>
            <a:srgbClr val="0A5470"/>
          </a:solidFill>
          <a:ln w="25400">
            <a:solidFill>
              <a:srgbClr val="0D6B8A"/>
            </a:solidFill>
            <a:prstDash val="solid"/>
          </a:ln>
          <a:effectLst>
            <a:outerShdw sx="100000" sy="100000" kx="0" ky="0" algn="bl" rotWithShape="0" blurRad="101600" dist="38100" dir="8100000">
              <a:srgbClr val="000000">
                <a:alpha val="10000"/>
              </a:srgbClr>
            </a:outerShdw>
          </a:effectLst>
        </p:spPr>
      </p:sp>
      <p:sp>
        <p:nvSpPr>
          <p:cNvPr id="10" name="Shape 8"/>
          <p:cNvSpPr/>
          <p:nvPr/>
        </p:nvSpPr>
        <p:spPr>
          <a:xfrm>
            <a:off x="4251960" y="1097280"/>
            <a:ext cx="685800" cy="685800"/>
          </a:xfrm>
          <a:prstGeom prst="ellipse">
            <a:avLst/>
          </a:prstGeom>
          <a:solidFill>
            <a:srgbClr val="0D6B8A"/>
          </a:solidFill>
          <a:ln w="12700">
            <a:solidFill>
              <a:srgbClr val="0D6B8A"/>
            </a:solidFill>
            <a:prstDash val="solid"/>
          </a:ln>
        </p:spPr>
      </p:sp>
      <p:sp>
        <p:nvSpPr>
          <p:cNvPr id="11" name="Text 9"/>
          <p:cNvSpPr/>
          <p:nvPr/>
        </p:nvSpPr>
        <p:spPr>
          <a:xfrm>
            <a:off x="4251960" y="1097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2" name="Text 10"/>
          <p:cNvSpPr/>
          <p:nvPr/>
        </p:nvSpPr>
        <p:spPr>
          <a:xfrm>
            <a:off x="3383280" y="1901952"/>
            <a:ext cx="2423160" cy="594360"/>
          </a:xfrm>
          <a:prstGeom prst="rect">
            <a:avLst/>
          </a:prstGeom>
          <a:noFill/>
          <a:ln/>
        </p:spPr>
        <p:txBody>
          <a:bodyPr wrap="square" lIns="0" tIns="0" rIns="0" bIns="0" rtlCol="0" anchor="ctr"/>
          <a:lstStyle/>
          <a:p>
            <a:pPr algn="ctr" indent="0" marL="0">
              <a:buNone/>
            </a:pPr>
            <a:r>
              <a:rPr lang="en-US" sz="1300" b="1" dirty="0">
                <a:solidFill>
                  <a:srgbClr val="FFFFFF"/>
                </a:solidFill>
              </a:rPr>
              <a:t>30-min KPI alignment call</a:t>
            </a:r>
            <a:endParaRPr lang="en-US" sz="1300" dirty="0"/>
          </a:p>
        </p:txBody>
      </p:sp>
      <p:sp>
        <p:nvSpPr>
          <p:cNvPr id="13" name="Text 11"/>
          <p:cNvSpPr/>
          <p:nvPr/>
        </p:nvSpPr>
        <p:spPr>
          <a:xfrm>
            <a:off x="3383280" y="2542032"/>
            <a:ext cx="2423160" cy="868680"/>
          </a:xfrm>
          <a:prstGeom prst="rect">
            <a:avLst/>
          </a:prstGeom>
          <a:noFill/>
          <a:ln/>
        </p:spPr>
        <p:txBody>
          <a:bodyPr wrap="square" lIns="0" tIns="0" rIns="0" bIns="0" rtlCol="0" anchor="ctr"/>
          <a:lstStyle/>
          <a:p>
            <a:pPr algn="ctr" indent="0" marL="0">
              <a:spcAft>
                <a:spcPts val="300"/>
              </a:spcAft>
              <a:buNone/>
            </a:pPr>
            <a:r>
              <a:rPr lang="en-US" sz="1050" dirty="0">
                <a:solidFill>
                  <a:srgbClr val="9EC9DC"/>
                </a:solidFill>
              </a:rPr>
              <a:t>With your ops lead. We agree on what 'success' looks like for your clinic.</a:t>
            </a:r>
            <a:endParaRPr lang="en-US" sz="1050" dirty="0"/>
          </a:p>
        </p:txBody>
      </p:sp>
      <p:sp>
        <p:nvSpPr>
          <p:cNvPr id="14" name="Shape 12"/>
          <p:cNvSpPr/>
          <p:nvPr/>
        </p:nvSpPr>
        <p:spPr>
          <a:xfrm>
            <a:off x="6126480" y="960120"/>
            <a:ext cx="2697480" cy="2743200"/>
          </a:xfrm>
          <a:prstGeom prst="rect">
            <a:avLst/>
          </a:prstGeom>
          <a:solidFill>
            <a:srgbClr val="1A3A20"/>
          </a:solidFill>
          <a:ln w="25400">
            <a:solidFill>
              <a:srgbClr val="E8762B"/>
            </a:solidFill>
            <a:prstDash val="solid"/>
          </a:ln>
          <a:effectLst>
            <a:outerShdw sx="100000" sy="100000" kx="0" ky="0" algn="bl" rotWithShape="0" blurRad="101600" dist="38100" dir="8100000">
              <a:srgbClr val="000000">
                <a:alpha val="10000"/>
              </a:srgbClr>
            </a:outerShdw>
          </a:effectLst>
        </p:spPr>
      </p:sp>
      <p:sp>
        <p:nvSpPr>
          <p:cNvPr id="15" name="Shape 13"/>
          <p:cNvSpPr/>
          <p:nvPr/>
        </p:nvSpPr>
        <p:spPr>
          <a:xfrm>
            <a:off x="7132320" y="1097280"/>
            <a:ext cx="685800" cy="685800"/>
          </a:xfrm>
          <a:prstGeom prst="ellipse">
            <a:avLst/>
          </a:prstGeom>
          <a:solidFill>
            <a:srgbClr val="E8762B"/>
          </a:solidFill>
          <a:ln w="12700">
            <a:solidFill>
              <a:srgbClr val="E8762B"/>
            </a:solidFill>
            <a:prstDash val="solid"/>
          </a:ln>
        </p:spPr>
      </p:sp>
      <p:sp>
        <p:nvSpPr>
          <p:cNvPr id="16" name="Text 14"/>
          <p:cNvSpPr/>
          <p:nvPr/>
        </p:nvSpPr>
        <p:spPr>
          <a:xfrm>
            <a:off x="7132320" y="109728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7" name="Text 15"/>
          <p:cNvSpPr/>
          <p:nvPr/>
        </p:nvSpPr>
        <p:spPr>
          <a:xfrm>
            <a:off x="6263640" y="1901952"/>
            <a:ext cx="2423160" cy="594360"/>
          </a:xfrm>
          <a:prstGeom prst="rect">
            <a:avLst/>
          </a:prstGeom>
          <a:noFill/>
          <a:ln/>
        </p:spPr>
        <p:txBody>
          <a:bodyPr wrap="square" lIns="0" tIns="0" rIns="0" bIns="0" rtlCol="0" anchor="ctr"/>
          <a:lstStyle/>
          <a:p>
            <a:pPr algn="ctr" indent="0" marL="0">
              <a:buNone/>
            </a:pPr>
            <a:r>
              <a:rPr lang="en-US" sz="1300" b="1" dirty="0">
                <a:solidFill>
                  <a:srgbClr val="FFFFFF"/>
                </a:solidFill>
              </a:rPr>
              <a:t>Pilot proposal in 48 hours</a:t>
            </a:r>
            <a:endParaRPr lang="en-US" sz="1300" dirty="0"/>
          </a:p>
        </p:txBody>
      </p:sp>
      <p:sp>
        <p:nvSpPr>
          <p:cNvPr id="18" name="Text 16"/>
          <p:cNvSpPr/>
          <p:nvPr/>
        </p:nvSpPr>
        <p:spPr>
          <a:xfrm>
            <a:off x="6263640" y="2542032"/>
            <a:ext cx="2423160" cy="868680"/>
          </a:xfrm>
          <a:prstGeom prst="rect">
            <a:avLst/>
          </a:prstGeom>
          <a:noFill/>
          <a:ln/>
        </p:spPr>
        <p:txBody>
          <a:bodyPr wrap="square" lIns="0" tIns="0" rIns="0" bIns="0" rtlCol="0" anchor="ctr"/>
          <a:lstStyle/>
          <a:p>
            <a:pPr algn="ctr" indent="0" marL="0">
              <a:spcAft>
                <a:spcPts val="300"/>
              </a:spcAft>
              <a:buNone/>
            </a:pPr>
            <a:r>
              <a:rPr lang="en-US" sz="1050" dirty="0">
                <a:solidFill>
                  <a:srgbClr val="9EC9DC"/>
                </a:solidFill>
              </a:rPr>
              <a:t>Scoped to your data, your team size, your budget. No surprises.</a:t>
            </a:r>
            <a:endParaRPr lang="en-US" sz="1050" dirty="0"/>
          </a:p>
        </p:txBody>
      </p:sp>
      <p:sp>
        <p:nvSpPr>
          <p:cNvPr id="19" name="Shape 17"/>
          <p:cNvSpPr/>
          <p:nvPr/>
        </p:nvSpPr>
        <p:spPr>
          <a:xfrm>
            <a:off x="365760" y="3913632"/>
            <a:ext cx="8412480" cy="54864"/>
          </a:xfrm>
          <a:prstGeom prst="rect">
            <a:avLst/>
          </a:prstGeom>
          <a:solidFill>
            <a:srgbClr val="E8762B"/>
          </a:solidFill>
          <a:ln w="12700">
            <a:solidFill>
              <a:srgbClr val="E8762B"/>
            </a:solidFill>
            <a:prstDash val="solid"/>
          </a:ln>
        </p:spPr>
      </p:sp>
      <p:sp>
        <p:nvSpPr>
          <p:cNvPr id="20" name="Text 18"/>
          <p:cNvSpPr/>
          <p:nvPr/>
        </p:nvSpPr>
        <p:spPr>
          <a:xfrm>
            <a:off x="365760" y="4041648"/>
            <a:ext cx="8412480" cy="475488"/>
          </a:xfrm>
          <a:prstGeom prst="rect">
            <a:avLst/>
          </a:prstGeom>
          <a:noFill/>
          <a:ln/>
        </p:spPr>
        <p:txBody>
          <a:bodyPr wrap="square" lIns="0" tIns="0" rIns="0" bIns="0" rtlCol="0" anchor="ctr"/>
          <a:lstStyle/>
          <a:p>
            <a:pPr algn="ctr" indent="0" marL="0">
              <a:buNone/>
            </a:pPr>
            <a:r>
              <a:rPr lang="en-US" sz="1400" i="1" dirty="0">
                <a:solidFill>
                  <a:srgbClr val="CADCEB"/>
                </a:solidFill>
                <a:latin typeface="Calibri Light" pitchFamily="34" charset="0"/>
                <a:ea typeface="Calibri Light" pitchFamily="34" charset="-122"/>
                <a:cs typeface="Calibri Light" pitchFamily="34" charset="-120"/>
              </a:rPr>
              <a:t>The dashboard you saw today was built in 2 days on public data. Imagine what we build with yours.</a:t>
            </a:r>
            <a:endParaRPr lang="en-US" sz="1400" dirty="0"/>
          </a:p>
        </p:txBody>
      </p:sp>
      <p:sp>
        <p:nvSpPr>
          <p:cNvPr id="21" name="Shape 19"/>
          <p:cNvSpPr/>
          <p:nvPr/>
        </p:nvSpPr>
        <p:spPr>
          <a:xfrm>
            <a:off x="0" y="4937760"/>
            <a:ext cx="9144000" cy="205740"/>
          </a:xfrm>
          <a:prstGeom prst="rect">
            <a:avLst/>
          </a:prstGeom>
          <a:solidFill>
            <a:srgbClr val="073B52"/>
          </a:solidFill>
          <a:ln w="12700">
            <a:solidFill>
              <a:srgbClr val="073B52"/>
            </a:solidFill>
            <a:prstDash val="solid"/>
          </a:ln>
        </p:spPr>
      </p:sp>
      <p:sp>
        <p:nvSpPr>
          <p:cNvPr id="22" name="Text 20"/>
          <p:cNvSpPr/>
          <p:nvPr/>
        </p:nvSpPr>
        <p:spPr>
          <a:xfrm>
            <a:off x="8229600" y="4937760"/>
            <a:ext cx="731520" cy="205740"/>
          </a:xfrm>
          <a:prstGeom prst="rect">
            <a:avLst/>
          </a:prstGeom>
          <a:noFill/>
          <a:ln/>
        </p:spPr>
        <p:txBody>
          <a:bodyPr wrap="square" lIns="0" tIns="0" rIns="0" bIns="0" rtlCol="0" anchor="ctr"/>
          <a:lstStyle/>
          <a:p>
            <a:pPr algn="r" indent="0" marL="0">
              <a:buNone/>
            </a:pPr>
            <a:r>
              <a:rPr lang="en-US" sz="800" dirty="0">
                <a:solidFill>
                  <a:srgbClr val="4A90A4"/>
                </a:solidFill>
              </a:rPr>
              <a:t>11 / 11</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HealthAI Pitch – Chleo Meeting</dc:title>
  <dc:subject>PptxGenJS Presentation</dc:subject>
  <dc:creator>AI Consultant</dc:creator>
  <cp:lastModifiedBy>AI Consultant</cp:lastModifiedBy>
  <cp:revision>1</cp:revision>
  <dcterms:created xsi:type="dcterms:W3CDTF">2026-03-23T12:35:51Z</dcterms:created>
  <dcterms:modified xsi:type="dcterms:W3CDTF">2026-03-23T12:35:51Z</dcterms:modified>
</cp:coreProperties>
</file>